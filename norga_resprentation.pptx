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98" r:id="rId33"/>
    <p:sldId id="299" r:id="rId34"/>
    <p:sldId id="303" r:id="rId35"/>
    <p:sldId id="288" r:id="rId36"/>
    <p:sldId id="289" r:id="rId37"/>
    <p:sldId id="290" r:id="rId38"/>
    <p:sldId id="291" r:id="rId39"/>
    <p:sldId id="300" r:id="rId40"/>
    <p:sldId id="301" r:id="rId41"/>
    <p:sldId id="302" r:id="rId42"/>
    <p:sldId id="292" r:id="rId43"/>
    <p:sldId id="305" r:id="rId44"/>
    <p:sldId id="306" r:id="rId45"/>
    <p:sldId id="307" r:id="rId46"/>
    <p:sldId id="293" r:id="rId47"/>
    <p:sldId id="295" r:id="rId48"/>
    <p:sldId id="296" r:id="rId49"/>
    <p:sldId id="297" r:id="rId5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63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7659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FE353-1452-D7CE-2487-80CD1FB80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F5620B-E593-6BE6-F7F5-972A47918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6F47DF-4127-DF93-C55A-72BF09E2C8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37D87-97FF-0852-6328-253C496B20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46113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2B8B-2FBA-81FD-6890-2869906C7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5910A5-6C0F-E326-14CA-047E3982C5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B88532-008D-061D-544F-B077A9126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4262A-2D8F-C3F5-EC0F-E914B8D5B1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541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51D8B-26FA-DA0E-18D2-1056E9337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E0EFCB-A3A2-D6D8-3D73-0B89831F6C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B81C2D-8682-F3D9-ADB2-001AF96F06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51780A-16DC-4E18-D3E8-58FB07D7BB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753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0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62048"/>
          </a:solidFill>
          <a:ln w="12700">
            <a:solidFill>
              <a:srgbClr val="162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223070"/>
          </a:solidFill>
          <a:ln w="12700">
            <a:solidFill>
              <a:srgbClr val="223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0" y="2926080"/>
            <a:ext cx="3200400" cy="3200400"/>
          </a:xfrm>
          <a:prstGeom prst="ellipse">
            <a:avLst/>
          </a:prstGeom>
          <a:solidFill>
            <a:srgbClr val="1A254E"/>
          </a:solidFill>
          <a:ln w="12700">
            <a:solidFill>
              <a:srgbClr val="1A25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 of Experts Meets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Prompt-Based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Continual Learning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32004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2024  —  Minh Le, An Nguyen, Huy Nguyen et al.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cáo: Lưu Hải Đăng  —  202516533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VinAI Research  ·  UT Austin  ·  HUST</a:t>
            </a:r>
            <a:endParaRPr lang="en-US" sz="1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6DC3BE-1D06-5DB7-1890-9BE7E690B113}"/>
              </a:ext>
            </a:extLst>
          </p:cNvPr>
          <p:cNvSpPr txBox="1"/>
          <p:nvPr/>
        </p:nvSpPr>
        <p:spPr>
          <a:xfrm>
            <a:off x="548640" y="3778031"/>
            <a:ext cx="5492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Code: https://github.com/Dangmotm/MoE_PromptCL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lục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— NeurIPS 2024  |  Lưu Hải Đăng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914400"/>
            <a:ext cx="64008" cy="10515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8056" y="96012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84632" y="141732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toán Continual Learning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91440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46120" y="914400"/>
            <a:ext cx="64008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74136" y="96012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410712" y="141732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Động lực: Tại sao MoE?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91440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72200" y="914400"/>
            <a:ext cx="64008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00216" y="96012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336792" y="141732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= Mixture of Experts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214884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2148840"/>
            <a:ext cx="64008" cy="10515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48056" y="219456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84632" y="265176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Tuning qua lăng kính MoE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46120" y="214884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46120" y="2148840"/>
            <a:ext cx="64008" cy="10515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74136" y="219456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410712" y="265176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thống kê của Linear Gating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72200" y="214884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172200" y="2148840"/>
            <a:ext cx="64008" cy="105156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00216" y="219456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336792" y="265176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— Non-linear Residual Gates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" y="338328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0040" y="3383280"/>
            <a:ext cx="64008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48056" y="342900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484632" y="388620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Chứng minh lý thuyết (Theorems)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46120" y="338328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246120" y="3383280"/>
            <a:ext cx="64008" cy="10515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374136" y="342900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3410712" y="388620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nghiệm &amp; Đánh giá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72200" y="338328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172200" y="3383280"/>
            <a:ext cx="64008" cy="10515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300216" y="342900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6336792" y="388620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 &amp; Định hướng phát triển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5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253275"/>
          </a:solidFill>
          <a:ln w="12700">
            <a:solidFill>
              <a:srgbClr val="2532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Bài toán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Continual Learning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Catastrophic forgetting, CIL setting, và Prompt-based approach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62048"/>
          </a:solidFill>
          <a:ln w="12700">
            <a:solidFill>
              <a:srgbClr val="162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Continual Learning — Học liên tục là gì?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— NeurIPS 2024  |  Lưu Hải Đăng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8229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học tuần tự qua nhiều task, mỗi lần chỉ thấy dữ liệu task hiện tại.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(Chó/Mèo)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86000" y="1828800"/>
            <a:ext cx="457200" cy="0"/>
          </a:xfrm>
          <a:prstGeom prst="line">
            <a:avLst/>
          </a:prstGeom>
          <a:noFill/>
          <a:ln w="3175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86000" y="1691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0" y="1371600"/>
            <a:ext cx="18288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(Xe hơi)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1828800"/>
            <a:ext cx="457200" cy="0"/>
          </a:xfrm>
          <a:prstGeom prst="line">
            <a:avLst/>
          </a:prstGeom>
          <a:noFill/>
          <a:ln w="3175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0" y="1691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0" y="1371600"/>
            <a:ext cx="1828800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(Hoa)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1371600"/>
            <a:ext cx="2560320" cy="9144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09360" y="1371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(fθ)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1828800"/>
            <a:ext cx="1737360" cy="0"/>
          </a:xfrm>
          <a:prstGeom prst="line">
            <a:avLst/>
          </a:prstGeom>
          <a:noFill/>
          <a:ln w="3175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251460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Catastrophic Forgetting — Vấn đề cốt lõi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0040" y="292608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2926080"/>
            <a:ext cx="64008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" y="3017520"/>
            <a:ext cx="3858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khi train Task 2: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4632" y="3310128"/>
            <a:ext cx="385876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trên Task 1 (chó/mèo) SỤP ĐỔ vì gradient đã ghi đè lên weights cũ.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663440" y="2926080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63440" y="2926080"/>
            <a:ext cx="64008" cy="14630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28032" y="3017520"/>
            <a:ext cx="39044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nhân gốc rễ: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28032" y="3310128"/>
            <a:ext cx="390448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toàn bộ model với loss của task mới → bất chấp task cũ. Đây là xung đột cơ bản giữa "học mới" và "giữ cũ".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Class-Incremental Learning (CIL) — Setting của paper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— NeurIPS 2024  |  Lưu Hải Đăng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82296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2 dạng setting khác nhau trong CL: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280160"/>
            <a:ext cx="402336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280160"/>
            <a:ext cx="40233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2801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Task-Incremental (TIL)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1764792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identity được cung cấp lúc test
</a:t>
            </a: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biết mình đang test task nào
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hơn nhiều: chỉ cần chọn đúng classifier
</a:t>
            </a: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thực tế: ai biết trước được task?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00600" y="1280160"/>
            <a:ext cx="4023360" cy="2560320"/>
          </a:xfrm>
          <a:prstGeom prst="rect">
            <a:avLst/>
          </a:prstGeom>
          <a:solidFill>
            <a:srgbClr val="F0F4FF"/>
          </a:solidFill>
          <a:ln w="31750">
            <a:solidFill>
              <a:srgbClr val="1B2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00600" y="1280160"/>
            <a:ext cx="4023360" cy="384048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00600" y="12801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Class-Incremental (CIL)  ← Paper này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1764792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biết task identity lúc test
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tự suy ra input thuộc task nào
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 hơn: nhầm task = nhầm hoàn toàn
</a:t>
            </a: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tế hơn nhiều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977640"/>
            <a:ext cx="8503920" cy="822960"/>
          </a:xfrm>
          <a:prstGeom prst="rect">
            <a:avLst/>
          </a:prstGeom>
          <a:solidFill>
            <a:srgbClr val="FEF9C3"/>
          </a:solidFill>
          <a:ln w="1905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15"/>
              <p:cNvSpPr/>
              <p:nvPr/>
            </p:nvSpPr>
            <p:spPr>
              <a:xfrm>
                <a:off x="502920" y="4023360"/>
                <a:ext cx="8229600" cy="3474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sz="1400" b="1" dirty="0">
                    <a:solidFill>
                      <a:srgbClr val="1E293B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P(x ∈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b="1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en-US" sz="1400" b="1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  <m:t>𝑿</m:t>
                        </m:r>
                      </m:e>
                      <m:sub>
                        <m:r>
                          <a:rPr lang="en-US" sz="1400" b="1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  <m:t>𝒋</m:t>
                        </m:r>
                      </m:sub>
                      <m:sup>
                        <m:d>
                          <m:dPr>
                            <m:ctrlPr>
                              <a:rPr lang="en-US" sz="1400" b="1" i="1" smtClean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  <a:ea typeface="Courier New" pitchFamily="34" charset="-122"/>
                                <a:cs typeface="Courier New" pitchFamily="34" charset="-120"/>
                              </a:rPr>
                            </m:ctrlPr>
                          </m:dPr>
                          <m:e>
                            <m:r>
                              <a:rPr lang="en-US" sz="1400" b="1" i="1" smtClean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  <a:ea typeface="Courier New" pitchFamily="34" charset="-122"/>
                                <a:cs typeface="Courier New" pitchFamily="34" charset="-120"/>
                              </a:rPr>
                              <m:t>𝒕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sz="1400" b="1" dirty="0">
                    <a:solidFill>
                      <a:srgbClr val="1E293B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| D)  =  P(x ∈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b="1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en-US" sz="1400" b="1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  <m:t>𝑿</m:t>
                        </m:r>
                      </m:e>
                      <m:sub>
                        <m:r>
                          <a:rPr lang="en-US" sz="1400" b="1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  <m:t>𝒋</m:t>
                        </m:r>
                      </m:sub>
                      <m:sup>
                        <m:d>
                          <m:dPr>
                            <m:ctrlPr>
                              <a:rPr lang="en-US" sz="1400" b="1" i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  <a:ea typeface="Courier New" pitchFamily="34" charset="-122"/>
                                <a:cs typeface="Courier New" pitchFamily="34" charset="-120"/>
                              </a:rPr>
                            </m:ctrlPr>
                          </m:dPr>
                          <m:e>
                            <m:r>
                              <a:rPr lang="en-US" sz="1400" b="1" i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  <a:ea typeface="Courier New" pitchFamily="34" charset="-122"/>
                                <a:cs typeface="Courier New" pitchFamily="34" charset="-120"/>
                              </a:rPr>
                              <m:t>𝒕</m:t>
                            </m:r>
                          </m:e>
                        </m:d>
                      </m:sup>
                    </m:sSubSup>
                    <m:r>
                      <a:rPr lang="en-US" sz="1400" b="1" i="1">
                        <a:solidFill>
                          <a:srgbClr val="1E293B"/>
                        </a:solidFill>
                        <a:latin typeface="Cambria Math" panose="02040503050406030204" pitchFamily="18" charset="0"/>
                        <a:ea typeface="Courier New" pitchFamily="34" charset="-122"/>
                        <a:cs typeface="Courier New" pitchFamily="34" charset="-120"/>
                      </a:rPr>
                      <m:t> </m:t>
                    </m:r>
                  </m:oMath>
                </a14:m>
                <a:r>
                  <a:rPr lang="en-US" sz="1400" b="1" dirty="0">
                    <a:solidFill>
                      <a:srgbClr val="1E293B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| x 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</m:ctrlPr>
                      </m:sSupPr>
                      <m:e>
                        <m:r>
                          <a:rPr lang="en-US" sz="1400" b="1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  <m:t>𝑿</m:t>
                        </m:r>
                      </m:e>
                      <m:sup>
                        <m:d>
                          <m:dPr>
                            <m:ctrlPr>
                              <a:rPr lang="en-US" sz="1400" b="1" i="1" smtClean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  <a:ea typeface="Courier New" pitchFamily="34" charset="-122"/>
                                <a:cs typeface="Courier New" pitchFamily="34" charset="-120"/>
                              </a:rPr>
                            </m:ctrlPr>
                          </m:dPr>
                          <m:e>
                            <m:r>
                              <a:rPr lang="en-US" sz="1400" b="1" i="1" smtClean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  <a:ea typeface="Courier New" pitchFamily="34" charset="-122"/>
                                <a:cs typeface="Courier New" pitchFamily="34" charset="-120"/>
                              </a:rPr>
                              <m:t>𝒕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sz="1400" b="1" dirty="0">
                    <a:solidFill>
                      <a:srgbClr val="1E293B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, D) 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rgbClr val="1E293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itchFamily="34" charset="-120"/>
                      </a:rPr>
                      <m:t>×</m:t>
                    </m:r>
                  </m:oMath>
                </a14:m>
                <a:r>
                  <a:rPr lang="en-US" sz="1400" b="1" dirty="0">
                    <a:solidFill>
                      <a:srgbClr val="1E293B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  P(x 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</m:ctrlPr>
                      </m:sSupPr>
                      <m:e>
                        <m:r>
                          <a:rPr lang="en-US" sz="1400" b="1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  <m:t>𝑿</m:t>
                        </m:r>
                      </m:e>
                      <m:sup>
                        <m:d>
                          <m:dPr>
                            <m:ctrlPr>
                              <a:rPr lang="en-US" sz="1400" b="1" i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  <a:ea typeface="Courier New" pitchFamily="34" charset="-122"/>
                                <a:cs typeface="Courier New" pitchFamily="34" charset="-120"/>
                              </a:rPr>
                            </m:ctrlPr>
                          </m:dPr>
                          <m:e>
                            <m:r>
                              <a:rPr lang="en-US" sz="1400" b="1" i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  <a:ea typeface="Courier New" pitchFamily="34" charset="-122"/>
                                <a:cs typeface="Courier New" pitchFamily="34" charset="-120"/>
                              </a:rPr>
                              <m:t>𝒕</m:t>
                            </m:r>
                          </m:e>
                        </m:d>
                      </m:sup>
                    </m:sSup>
                    <m:r>
                      <a:rPr lang="en-US" sz="1400" b="1" i="1">
                        <a:solidFill>
                          <a:srgbClr val="1E293B"/>
                        </a:solidFill>
                        <a:latin typeface="Cambria Math" panose="02040503050406030204" pitchFamily="18" charset="0"/>
                        <a:ea typeface="Courier New" pitchFamily="34" charset="-122"/>
                        <a:cs typeface="Courier New" pitchFamily="34" charset="-120"/>
                      </a:rPr>
                      <m:t> </m:t>
                    </m:r>
                  </m:oMath>
                </a14:m>
                <a:r>
                  <a:rPr lang="en-US" sz="1400" b="1" dirty="0">
                    <a:solidFill>
                      <a:srgbClr val="1E293B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| D)</a:t>
                </a:r>
                <a:endParaRPr lang="en-US" sz="1400" dirty="0"/>
              </a:p>
            </p:txBody>
          </p:sp>
        </mc:Choice>
        <mc:Fallback xmlns="">
          <p:sp>
            <p:nvSpPr>
              <p:cNvPr id="17" name="Text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4023360"/>
                <a:ext cx="8229600" cy="347472"/>
              </a:xfrm>
              <a:prstGeom prst="rect">
                <a:avLst/>
              </a:prstGeom>
              <a:blipFill>
                <a:blip r:embed="rId3"/>
                <a:stretch>
                  <a:fillRect b="-1754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16"/>
          <p:cNvSpPr/>
          <p:nvPr/>
        </p:nvSpPr>
        <p:spPr>
          <a:xfrm>
            <a:off x="502920" y="435254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Within-Task Prediction (WTP)  ×  Task Identity Inference (TII)    ← NoRGa cải thiện WTP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hướng tiếp cận giải quyết Catastrophic Forgetting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— NeurIPS 2024  |  Lưu Hải Đăng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914400"/>
            <a:ext cx="64008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" y="100584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Rehearsal-based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" y="133502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lại một phần dữ liệu cũ (replay buffer) để retrain kèm data mới.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" y="1847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Hiệu quả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23160" y="18470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Tốn bộ nhớ, lo ngại privacy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27448" y="91440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27448" y="914400"/>
            <a:ext cx="64008" cy="1737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92040" y="100584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133502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penalty vào loss để không thay đổi weights quan trọng (EWC, SI).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847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Không cần lưu data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30568" y="18470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Khó scale, accuracy thấp hơn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83464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2834640"/>
            <a:ext cx="6400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" y="292608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Architecture-based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" y="325526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Cấp phát các sub-network riêng cho mỗi task (PackNet, PNN).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" y="37673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Không quên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23160" y="37673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Model phình to theo số task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27448" y="2834640"/>
            <a:ext cx="4160520" cy="1737360"/>
          </a:xfrm>
          <a:prstGeom prst="rect">
            <a:avLst/>
          </a:prstGeom>
          <a:solidFill>
            <a:srgbClr val="F0F4FF"/>
          </a:solidFill>
          <a:ln w="254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27448" y="2834640"/>
            <a:ext cx="64008" cy="1737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292608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Prompt-based ← focus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92040" y="325526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prompt vectors nhỏ; frozen pre-trained model. Mỗi task = 1 bộ prompt.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37673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Parameter-efficient, no replay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30568" y="37673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Thiếu nền tảng lý thuyết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" y="459943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Paper này tập trung giải quyết thiếu sót lý thuyết của Prompt-based approach!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Prompt-Based CL — Prefix Tuning là gì?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— NeurIPS 2024  |  Lưu Hải Đăng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nguyên pre-trained model (frozen), chỉ học các prompt vectors nhỏ gắn vào attention layers.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85039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Tuning — Cơ chế hoạt động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920240"/>
            <a:ext cx="137160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920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606040"/>
            <a:ext cx="137160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/>
              <p:cNvSpPr/>
              <p:nvPr/>
            </p:nvSpPr>
            <p:spPr>
              <a:xfrm>
                <a:off x="502920" y="2606040"/>
                <a:ext cx="1371600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1100" b="1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pPr>
                      <m:e>
                        <m:r>
                          <a:rPr lang="en-US" sz="1100" b="1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𝒑</m:t>
                        </m:r>
                      </m:e>
                      <m:sup>
                        <m:r>
                          <a:rPr lang="en-US" sz="1100" b="1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𝑲</m:t>
                        </m:r>
                      </m:sup>
                    </m:sSup>
                  </m:oMath>
                </a14:m>
                <a:r>
                  <a:rPr lang="en-US" sz="11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1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pPr>
                      <m:e>
                        <m:r>
                          <a:rPr lang="en-US" sz="1100" b="1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𝒑</m:t>
                        </m:r>
                      </m:e>
                      <m:sup>
                        <m:r>
                          <a:rPr lang="en-US" sz="1100" b="1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𝑽</m:t>
                        </m:r>
                      </m:sup>
                    </m:sSup>
                  </m:oMath>
                </a14:m>
                <a:endParaRPr lang="en-US" sz="1100" dirty="0"/>
              </a:p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(learnable)</a:t>
                </a:r>
                <a:endParaRPr lang="en-US" sz="1100" dirty="0"/>
              </a:p>
            </p:txBody>
          </p:sp>
        </mc:Choice>
        <mc:Fallback xmlns="">
          <p:sp>
            <p:nvSpPr>
              <p:cNvPr id="13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2606040"/>
                <a:ext cx="1371600" cy="502920"/>
              </a:xfrm>
              <a:prstGeom prst="rect">
                <a:avLst/>
              </a:prstGeom>
              <a:blipFill>
                <a:blip r:embed="rId3"/>
                <a:stretch>
                  <a:fillRect b="-122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hape 12"/>
          <p:cNvSpPr/>
          <p:nvPr/>
        </p:nvSpPr>
        <p:spPr>
          <a:xfrm>
            <a:off x="1874520" y="2176272"/>
            <a:ext cx="64008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874520" y="2852928"/>
            <a:ext cx="64008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14600" y="1810512"/>
            <a:ext cx="2286000" cy="1691640"/>
          </a:xfrm>
          <a:prstGeom prst="rect">
            <a:avLst/>
          </a:prstGeom>
          <a:solidFill>
            <a:srgbClr val="F0F4FF"/>
          </a:solidFill>
          <a:ln w="1905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14600" y="18105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 Layer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1810512"/>
            <a:ext cx="2286000" cy="347472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14600" y="18105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 Layer</a:t>
            </a:r>
            <a:endParaRPr lang="en-US" sz="1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18"/>
              <p:cNvSpPr/>
              <p:nvPr/>
            </p:nvSpPr>
            <p:spPr>
              <a:xfrm>
                <a:off x="2606040" y="2212848"/>
                <a:ext cx="2103120" cy="12344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Attention(Q, 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pPr>
                      <m:e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𝑝</m:t>
                        </m:r>
                      </m:e>
                      <m:sup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sz="110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; K], 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pPr>
                      <m:e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𝑝</m:t>
                        </m:r>
                      </m:e>
                      <m:sup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𝑉</m:t>
                        </m:r>
                      </m:sup>
                    </m:sSup>
                  </m:oMath>
                </a14:m>
                <a:r>
                  <a:rPr lang="en-US" sz="110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; V])</a:t>
                </a:r>
                <a:endParaRPr lang="en-US" sz="1100" dirty="0"/>
              </a:p>
              <a:p>
                <a:pPr marL="0" indent="0">
                  <a:buNone/>
                </a:pPr>
                <a:endParaRPr lang="en-US" sz="1100" dirty="0"/>
              </a:p>
              <a:p>
                <a:r>
                  <a:rPr lang="en-US" sz="110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Key &amp; Value được nối thêm prefix vectors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pPr>
                      <m:e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𝑝</m:t>
                        </m:r>
                      </m:e>
                      <m:sup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sz="110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và</a:t>
                </a:r>
                <a:r>
                  <a:rPr lang="en-US" sz="110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pPr>
                      <m:e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𝑝</m:t>
                        </m:r>
                      </m:e>
                      <m:sup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𝑉</m:t>
                        </m:r>
                      </m:sup>
                    </m:sSup>
                  </m:oMath>
                </a14:m>
                <a:endParaRPr lang="en-US" sz="1100" b="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</p:txBody>
          </p:sp>
        </mc:Choice>
        <mc:Fallback xmlns="">
          <p:sp>
            <p:nvSpPr>
              <p:cNvPr id="20" name="Text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6040" y="2212848"/>
                <a:ext cx="2103120" cy="1234440"/>
              </a:xfrm>
              <a:prstGeom prst="rect">
                <a:avLst/>
              </a:prstGeom>
              <a:blipFill>
                <a:blip r:embed="rId4"/>
                <a:stretch>
                  <a:fillRect r="-115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Shape 19"/>
          <p:cNvSpPr/>
          <p:nvPr/>
        </p:nvSpPr>
        <p:spPr>
          <a:xfrm>
            <a:off x="4800600" y="2651760"/>
            <a:ext cx="54864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349240" y="2395728"/>
            <a:ext cx="13716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49240" y="239572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49440" y="1810512"/>
            <a:ext cx="1737360" cy="1828800"/>
          </a:xfrm>
          <a:prstGeom prst="rect">
            <a:avLst/>
          </a:prstGeom>
          <a:solidFill>
            <a:srgbClr val="FEF9C3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23"/>
              <p:cNvSpPr/>
              <p:nvPr/>
            </p:nvSpPr>
            <p:spPr>
              <a:xfrm>
                <a:off x="6995160" y="1874520"/>
                <a:ext cx="1645920" cy="16916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Chỉ học</a:t>
                </a:r>
                <a:endParaRPr lang="en-US" sz="1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1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pPr>
                      <m:e>
                        <m:r>
                          <a:rPr lang="en-US" sz="1200" b="1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𝒑</m:t>
                        </m:r>
                      </m:e>
                      <m:sup>
                        <m:r>
                          <a:rPr lang="en-US" sz="1200" b="1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𝑲</m:t>
                        </m:r>
                        <m:r>
                          <a:rPr lang="en-US" sz="1200" b="1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US" sz="1200" b="1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và</a:t>
                </a:r>
                <a:r>
                  <a:rPr lang="en-US" sz="1200" b="1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1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pPr>
                      <m:e>
                        <m:r>
                          <a:rPr lang="en-US" sz="1200" b="1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𝒑</m:t>
                        </m:r>
                      </m:e>
                      <m:sup>
                        <m:r>
                          <a:rPr lang="en-US" sz="1200" b="1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𝑽</m:t>
                        </m:r>
                      </m:sup>
                    </m:sSup>
                  </m:oMath>
                </a14:m>
                <a:endParaRPr lang="en-US" sz="12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0" indent="0" algn="ctr">
                  <a:buNone/>
                </a:pPr>
                <a:endParaRPr lang="en-US" sz="1200" dirty="0"/>
              </a:p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Mọi thứ</a:t>
                </a:r>
                <a:endParaRPr lang="en-US" sz="1200" dirty="0"/>
              </a:p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khác</a:t>
                </a:r>
                <a:endParaRPr lang="en-US" sz="1200" dirty="0"/>
              </a:p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FROZEN ❄️</a:t>
                </a:r>
                <a:endParaRPr lang="en-US" sz="1200" dirty="0"/>
              </a:p>
            </p:txBody>
          </p:sp>
        </mc:Choice>
        <mc:Fallback xmlns="">
          <p:sp>
            <p:nvSpPr>
              <p:cNvPr id="25" name="Text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5160" y="1874520"/>
                <a:ext cx="1645920" cy="16916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Shape 24"/>
          <p:cNvSpPr/>
          <p:nvPr/>
        </p:nvSpPr>
        <p:spPr>
          <a:xfrm>
            <a:off x="320040" y="3931920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0040" y="3931920"/>
            <a:ext cx="64008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26"/>
              <p:cNvSpPr/>
              <p:nvPr/>
            </p:nvSpPr>
            <p:spPr>
              <a:xfrm>
                <a:off x="484632" y="4023360"/>
                <a:ext cx="8247888" cy="32918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2563E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Prompt Pool P 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solidFill>
                              <a:srgbClr val="2563E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solidFill>
                              <a:srgbClr val="2563E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𝒑</m:t>
                        </m:r>
                      </m:e>
                      <m:sub>
                        <m:r>
                          <a:rPr lang="en-US" sz="1400" b="1" i="1" smtClean="0">
                            <a:solidFill>
                              <a:srgbClr val="2563E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400" b="1" dirty="0">
                    <a:solidFill>
                      <a:srgbClr val="2563E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solidFill>
                              <a:srgbClr val="2563E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solidFill>
                              <a:srgbClr val="2563E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𝒑</m:t>
                        </m:r>
                      </m:e>
                      <m:sub>
                        <m:r>
                          <a:rPr lang="en-US" sz="1400" b="1" i="1" smtClean="0">
                            <a:solidFill>
                              <a:srgbClr val="2563E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400" b="1" dirty="0">
                    <a:solidFill>
                      <a:srgbClr val="2563E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...,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solidFill>
                              <a:srgbClr val="2563E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solidFill>
                              <a:srgbClr val="2563E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𝒑</m:t>
                        </m:r>
                      </m:e>
                      <m:sub>
                        <m:r>
                          <a:rPr lang="en-US" sz="1400" b="1" i="1" smtClean="0">
                            <a:solidFill>
                              <a:srgbClr val="2563E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sz="1400" b="1" dirty="0">
                    <a:solidFill>
                      <a:srgbClr val="2563E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}</a:t>
                </a:r>
                <a:endParaRPr lang="en-US" sz="1400" dirty="0"/>
              </a:p>
            </p:txBody>
          </p:sp>
        </mc:Choice>
        <mc:Fallback xmlns="">
          <p:sp>
            <p:nvSpPr>
              <p:cNvPr id="28" name="Text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32" y="4023360"/>
                <a:ext cx="8247888" cy="329184"/>
              </a:xfrm>
              <a:prstGeom prst="rect">
                <a:avLst/>
              </a:prstGeom>
              <a:blipFill>
                <a:blip r:embed="rId6"/>
                <a:stretch>
                  <a:fillRect l="-222" b="-1481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 27"/>
          <p:cNvSpPr/>
          <p:nvPr/>
        </p:nvSpPr>
        <p:spPr>
          <a:xfrm>
            <a:off x="484632" y="4315968"/>
            <a:ext cx="8247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task t học một bộ prefix riêng pₜ và lưu vào pool. Khi test, chọn prompt phù hợp nhất với input.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HiDe-Prompt — Framework mà NoRGa được xây dựng trên đó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— NeurIPS 2024  |  Lưu Hải Đăng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150876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9601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0040" y="1307592"/>
            <a:ext cx="15087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0" y="1554480"/>
            <a:ext cx="210312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39112" y="960120"/>
            <a:ext cx="1508760" cy="118872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39112" y="9601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/>
              <p:cNvSpPr/>
              <p:nvPr/>
            </p:nvSpPr>
            <p:spPr>
              <a:xfrm>
                <a:off x="2039112" y="1307592"/>
                <a:ext cx="1508760" cy="795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Frozen ViT</a:t>
                </a:r>
                <a:endParaRPr lang="en-US" sz="1200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𝑓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200" dirty="0">
                            <a:solidFill>
                              <a:srgbClr val="FFFFFF"/>
                            </a:solidFill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m:t>θ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(x)</a:t>
                </a:r>
                <a:endParaRPr lang="en-US" sz="1200" dirty="0"/>
              </a:p>
            </p:txBody>
          </p:sp>
        </mc:Choice>
        <mc:Fallback xmlns="">
          <p:sp>
            <p:nvSpPr>
              <p:cNvPr id="13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9112" y="1307592"/>
                <a:ext cx="1508760" cy="7955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hape 12"/>
          <p:cNvSpPr/>
          <p:nvPr/>
        </p:nvSpPr>
        <p:spPr>
          <a:xfrm>
            <a:off x="3547872" y="1554480"/>
            <a:ext cx="210312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758184" y="960120"/>
            <a:ext cx="1508760" cy="1188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758184" y="9601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15"/>
              <p:cNvSpPr/>
              <p:nvPr/>
            </p:nvSpPr>
            <p:spPr>
              <a:xfrm>
                <a:off x="3758184" y="1307592"/>
                <a:ext cx="1508760" cy="795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TII: Chọn</a:t>
                </a:r>
                <a:endParaRPr lang="en-US" sz="1200" dirty="0"/>
              </a:p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prompt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𝑝</m:t>
                        </m:r>
                      </m:e>
                      <m:sup>
                        <m:r>
                          <a:rPr lang="en-US" sz="1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𝑘</m:t>
                        </m:r>
                      </m:sup>
                    </m:sSup>
                  </m:oMath>
                </a14:m>
                <a:endParaRPr lang="en-US" sz="1200" b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0" indent="0" algn="ctr">
                  <a:buNone/>
                </a:pPr>
                <a:endParaRPr lang="en-US" sz="1200" dirty="0"/>
              </a:p>
            </p:txBody>
          </p:sp>
        </mc:Choice>
        <mc:Fallback xmlns="">
          <p:sp>
            <p:nvSpPr>
              <p:cNvPr id="17" name="Text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8184" y="1307592"/>
                <a:ext cx="1508760" cy="7955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hape 16"/>
          <p:cNvSpPr/>
          <p:nvPr/>
        </p:nvSpPr>
        <p:spPr>
          <a:xfrm>
            <a:off x="5266944" y="1554480"/>
            <a:ext cx="210312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77256" y="960120"/>
            <a:ext cx="150876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77256" y="9601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19"/>
              <p:cNvSpPr/>
              <p:nvPr/>
            </p:nvSpPr>
            <p:spPr>
              <a:xfrm>
                <a:off x="5477256" y="1307592"/>
                <a:ext cx="1508760" cy="795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WTP: Forward</a:t>
                </a:r>
                <a:endParaRPr lang="en-US" sz="1200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𝑓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200" dirty="0">
                            <a:solidFill>
                              <a:srgbClr val="FFFFFF"/>
                            </a:solidFill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m:t>θ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(x,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pPr>
                      <m:e>
                        <m:r>
                          <a:rPr lang="en-US" sz="12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𝑝</m:t>
                        </m:r>
                      </m:e>
                      <m:sup>
                        <m:r>
                          <a:rPr lang="en-US" sz="12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120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</a:t>
                </a:r>
                <a:endParaRPr lang="en-US" sz="1200" dirty="0"/>
              </a:p>
            </p:txBody>
          </p:sp>
        </mc:Choice>
        <mc:Fallback xmlns="">
          <p:sp>
            <p:nvSpPr>
              <p:cNvPr id="21" name="Text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256" y="1307592"/>
                <a:ext cx="1508760" cy="7955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hape 20"/>
          <p:cNvSpPr/>
          <p:nvPr/>
        </p:nvSpPr>
        <p:spPr>
          <a:xfrm>
            <a:off x="6986016" y="1554480"/>
            <a:ext cx="210312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196328" y="960120"/>
            <a:ext cx="1508760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96328" y="9601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23"/>
              <p:cNvSpPr/>
              <p:nvPr/>
            </p:nvSpPr>
            <p:spPr>
              <a:xfrm>
                <a:off x="7196328" y="1307592"/>
                <a:ext cx="1508760" cy="795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Prediction</a:t>
                </a:r>
                <a:endParaRPr lang="en-US" sz="1200" dirty="0"/>
              </a:p>
              <a:p>
                <a:pPr algn="ctr"/>
                <a:r>
                  <a:rPr lang="en-US" sz="120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ŷ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h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200" dirty="0">
                            <a:solidFill>
                              <a:srgbClr val="FFFFFF"/>
                            </a:solidFill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m:t>ψ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(...)</a:t>
                </a:r>
                <a:endParaRPr lang="en-US" sz="1200" dirty="0"/>
              </a:p>
            </p:txBody>
          </p:sp>
        </mc:Choice>
        <mc:Fallback xmlns="">
          <p:sp>
            <p:nvSpPr>
              <p:cNvPr id="25" name="Text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6328" y="1307592"/>
                <a:ext cx="1508760" cy="7955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Shape 24"/>
          <p:cNvSpPr/>
          <p:nvPr/>
        </p:nvSpPr>
        <p:spPr>
          <a:xfrm>
            <a:off x="320040" y="2331720"/>
            <a:ext cx="41605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0040" y="2331720"/>
            <a:ext cx="416052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0040" y="23317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Within-Task Prediction (WTP)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27"/>
              <p:cNvSpPr/>
              <p:nvPr/>
            </p:nvSpPr>
            <p:spPr>
              <a:xfrm>
                <a:off x="502920" y="2743200"/>
                <a:ext cx="3794760" cy="15544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250" b="1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Mục tiêu: </a:t>
                </a:r>
                <a:r>
                  <a:rPr lang="en-US" sz="12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Phân loại đúng TRONG cùng một task
</a:t>
                </a:r>
                <a:r>
                  <a:rPr lang="en-US" sz="1250" b="1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Cách train: </a:t>
                </a:r>
                <a:r>
                  <a:rPr lang="en-US" sz="12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Co-optimize prompt pₜ và classifier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2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h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250" dirty="0">
                            <a:solidFill>
                              <a:srgbClr val="1E293B"/>
                            </a:solidFill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m:t>ψ</m:t>
                        </m:r>
                      </m:sub>
                    </m:sSub>
                  </m:oMath>
                </a14:m>
                <a:r>
                  <a:rPr lang="en-US" sz="12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25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trên</a:t>
                </a:r>
                <a:r>
                  <a:rPr lang="en-US" sz="12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WTP loss cho mỗi task t
</a:t>
                </a:r>
                <a:r>
                  <a:rPr lang="en-US" sz="1250" b="1" dirty="0">
                    <a:solidFill>
                      <a:srgbClr val="0D948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NoRGa cải thiện WTP bằng cách tốt hơn trong việc học pₜ</a:t>
                </a:r>
                <a:endParaRPr lang="en-US" sz="1250" dirty="0"/>
              </a:p>
            </p:txBody>
          </p:sp>
        </mc:Choice>
        <mc:Fallback xmlns="">
          <p:sp>
            <p:nvSpPr>
              <p:cNvPr id="29" name="Text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2743200"/>
                <a:ext cx="3794760" cy="1554480"/>
              </a:xfrm>
              <a:prstGeom prst="rect">
                <a:avLst/>
              </a:prstGeom>
              <a:blipFill>
                <a:blip r:embed="rId7"/>
                <a:stretch>
                  <a:fillRect l="-161" r="-804" b="-39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Shape 28"/>
          <p:cNvSpPr/>
          <p:nvPr/>
        </p:nvSpPr>
        <p:spPr>
          <a:xfrm>
            <a:off x="4663440" y="2331720"/>
            <a:ext cx="41605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63440" y="2331720"/>
            <a:ext cx="4160520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63440" y="23317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Identity Inference (TII)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31"/>
              <p:cNvSpPr/>
              <p:nvPr/>
            </p:nvSpPr>
            <p:spPr>
              <a:xfrm>
                <a:off x="4846320" y="2743200"/>
                <a:ext cx="3794760" cy="15544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250" b="1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Mục tiêu: </a:t>
                </a:r>
                <a:r>
                  <a:rPr lang="en-US" sz="12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Xác định input x thuộc task nào
</a:t>
                </a:r>
                <a:r>
                  <a:rPr lang="en-US" sz="1250" b="1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Cách làm: </a:t>
                </a:r>
                <a:r>
                  <a:rPr lang="en-US" sz="12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Auxiliary network </a:t>
                </a:r>
                <a14:m>
                  <m:oMath xmlns:m="http://schemas.openxmlformats.org/officeDocument/2006/math">
                    <m:r>
                      <a:rPr lang="en-US" sz="1250" i="1" smtClean="0">
                        <a:solidFill>
                          <a:srgbClr val="1E293B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h</m:t>
                    </m:r>
                    <m:sSub>
                      <m:sSubPr>
                        <m:ctrlPr>
                          <a:rPr lang="en-US" sz="125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25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̂</m:t>
                        </m:r>
                      </m:e>
                      <m:sub>
                        <m:r>
                          <a:rPr lang="en-US" sz="125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𝜔</m:t>
                        </m:r>
                      </m:sub>
                    </m:sSub>
                  </m:oMath>
                </a14:m>
                <a:r>
                  <a:rPr lang="en-US" sz="12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25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nhìn</a:t>
                </a:r>
                <a:r>
                  <a:rPr lang="en-US" sz="12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representation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2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𝑓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400" dirty="0" smtClean="0">
                            <a:solidFill>
                              <a:schemeClr val="tx1"/>
                            </a:solidFill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m:t>θ</m:t>
                        </m:r>
                      </m:sub>
                    </m:sSub>
                  </m:oMath>
                </a14:m>
                <a:r>
                  <a:rPr lang="en-US" sz="12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(x) và </a:t>
                </a:r>
                <a:r>
                  <a:rPr lang="en-US" sz="125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chọn</a:t>
                </a:r>
                <a:r>
                  <a:rPr lang="en-US" sz="12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pPr>
                      <m:e>
                        <m:r>
                          <a:rPr lang="en-US" sz="12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𝑝</m:t>
                        </m:r>
                      </m:e>
                      <m:sup>
                        <m:r>
                          <a:rPr lang="en-US" sz="12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12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25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từ</a:t>
                </a:r>
                <a:r>
                  <a:rPr lang="en-US" sz="12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pool
</a:t>
                </a:r>
                <a:r>
                  <a:rPr lang="en-US" sz="1250" b="1" dirty="0">
                    <a:solidFill>
                      <a:srgbClr val="EF444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⚠ NoRGa KHÔNG thay đổi TII — đây là hạn chế cần cải thiện</a:t>
                </a:r>
                <a:endParaRPr lang="en-US" sz="1250" dirty="0"/>
              </a:p>
            </p:txBody>
          </p:sp>
        </mc:Choice>
        <mc:Fallback xmlns="">
          <p:sp>
            <p:nvSpPr>
              <p:cNvPr id="33" name="Text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320" y="2743200"/>
                <a:ext cx="3794760" cy="1554480"/>
              </a:xfrm>
              <a:prstGeom prst="rect">
                <a:avLst/>
              </a:prstGeom>
              <a:blipFill>
                <a:blip r:embed="rId8"/>
                <a:stretch>
                  <a:fillRect l="-161" r="-96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5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253275"/>
          </a:solidFill>
          <a:ln w="12700">
            <a:solidFill>
              <a:srgbClr val="2532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Động lực: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nghĩ đến MoE?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hỏi: Prompt-based hoạt động tốt — nhưng tại sao?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62048"/>
          </a:solidFill>
          <a:ln w="12700">
            <a:solidFill>
              <a:srgbClr val="162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 of Experts (MoE) — Ôn lại kiến trúc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— NeurIPS 2024  |  Lưu Hải Đăng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chia nhỏ bài toán: mỗi expert học một 'góc nhìn' khác nhau, gating function chọn expert phù hợp.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175004"/>
            <a:ext cx="8503920" cy="1275588"/>
          </a:xfrm>
          <a:prstGeom prst="rect">
            <a:avLst/>
          </a:prstGeom>
          <a:solidFill>
            <a:srgbClr val="FEF9C3"/>
          </a:solidFill>
          <a:ln w="1905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2743200" cy="30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thức MoE: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618488"/>
            <a:ext cx="8229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040" y="260604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2606040"/>
            <a:ext cx="64008" cy="1783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4632" y="2697480"/>
            <a:ext cx="2441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fⱼ(h)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" y="2990088"/>
            <a:ext cx="2441448" cy="1307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Mạng con xử lý input theo "chuyên môn" riêng. Ví dụ: expert 1 giỏi texture, expert 2 giỏi shape.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18688" y="260604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18688" y="2606040"/>
            <a:ext cx="64008" cy="1783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83280" y="2697480"/>
            <a:ext cx="2441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sⱼ(h)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2990088"/>
            <a:ext cx="2441448" cy="1307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mức độ 'liên quan' của input h với expert j. Dạng toán học của s quyết định tất cả!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17336" y="260604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17336" y="2606040"/>
            <a:ext cx="64008" cy="1783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81928" y="2697480"/>
            <a:ext cx="2441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Gating G(h)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81928" y="2990088"/>
            <a:ext cx="2441448" cy="1307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softmax(s₁, s₂, ..., sₙ) → trọng số tổng bằng 1. Output = weighted sum của các experts.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20040" y="4480560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Dạng toán học của score function sⱼ(h) là thứ paper này phân tích và cải thiện.</a:t>
            </a:r>
            <a:endParaRPr lang="en-US" sz="13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F2B30AD-DB44-C1AE-4D03-13213C25D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238" y="1474638"/>
            <a:ext cx="6074644" cy="9188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5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253275"/>
          </a:solidFill>
          <a:ln w="12700">
            <a:solidFill>
              <a:srgbClr val="2532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Self-Attention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</a:t>
            </a: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Mixture of Experts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lý thuyết mới — Phần 3.1 của paper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62048"/>
          </a:solidFill>
          <a:ln w="12700">
            <a:solidFill>
              <a:srgbClr val="162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— Phân tích từng thành phần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— NeurIPS 2024  |  Lưu Hải Đăng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803379"/>
            <a:ext cx="8503920" cy="1231702"/>
          </a:xfrm>
          <a:prstGeom prst="rect">
            <a:avLst/>
          </a:prstGeom>
          <a:solidFill>
            <a:srgbClr val="FEF9C3"/>
          </a:solidFill>
          <a:ln w="1905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757275"/>
            <a:ext cx="3657600" cy="296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Dot-Product Attention: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12471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274320" y="2013590"/>
                <a:ext cx="8503920" cy="3474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500" b="1" dirty="0">
                    <a:solidFill>
                      <a:srgbClr val="1B255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Output của head </a:t>
                </a:r>
                <a14:m>
                  <m:oMath xmlns:m="http://schemas.openxmlformats.org/officeDocument/2006/math">
                    <m:r>
                      <a:rPr lang="en-US" sz="1500" b="1" i="1" smtClean="0">
                        <a:solidFill>
                          <a:srgbClr val="1B2558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𝒍</m:t>
                    </m:r>
                  </m:oMath>
                </a14:m>
                <a:r>
                  <a:rPr lang="en-US" sz="1500" b="1" dirty="0">
                    <a:solidFill>
                      <a:srgbClr val="1B255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500" b="1" dirty="0" err="1">
                    <a:solidFill>
                      <a:srgbClr val="1B255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cho</a:t>
                </a:r>
                <a:r>
                  <a:rPr lang="en-US" sz="1500" b="1" dirty="0">
                    <a:solidFill>
                      <a:srgbClr val="1B255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TOKEN </a:t>
                </a:r>
                <a14:m>
                  <m:oMath xmlns:m="http://schemas.openxmlformats.org/officeDocument/2006/math">
                    <m:r>
                      <a:rPr lang="en-US" sz="1500" b="1" i="1" smtClean="0">
                        <a:solidFill>
                          <a:srgbClr val="1B2558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𝒊</m:t>
                    </m:r>
                    <m:r>
                      <a:rPr lang="en-US" sz="1500" b="1" i="1" smtClean="0">
                        <a:solidFill>
                          <a:srgbClr val="1B2558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:</m:t>
                    </m:r>
                  </m:oMath>
                </a14:m>
                <a:endParaRPr lang="en-US" sz="1500" b="1" dirty="0">
                  <a:solidFill>
                    <a:srgbClr val="1B255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</p:txBody>
          </p:sp>
        </mc:Choice>
        <mc:Fallback xmlns=""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" y="2013590"/>
                <a:ext cx="8503920" cy="347472"/>
              </a:xfrm>
              <a:prstGeom prst="rect">
                <a:avLst/>
              </a:prstGeom>
              <a:blipFill>
                <a:blip r:embed="rId3"/>
                <a:stretch>
                  <a:fillRect l="-287" b="-1578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320040" y="2347037"/>
            <a:ext cx="8503920" cy="1380185"/>
          </a:xfrm>
          <a:prstGeom prst="rect">
            <a:avLst/>
          </a:prstGeom>
          <a:solidFill>
            <a:srgbClr val="F0F4FF"/>
          </a:solidFill>
          <a:ln w="1905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866877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3789553"/>
            <a:ext cx="3931920" cy="1033907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3789553"/>
            <a:ext cx="3931920" cy="249625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3750787"/>
            <a:ext cx="3931920" cy="2680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function sᵢⱼ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577614"/>
            <a:ext cx="3657600" cy="223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Dạng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QUADRATIC theo X (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 · X)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92040" y="3772942"/>
            <a:ext cx="3931920" cy="1050518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92040" y="3789553"/>
            <a:ext cx="3931920" cy="24962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37760" y="3750787"/>
            <a:ext cx="3931920" cy="2680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function fⱼ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4573832"/>
            <a:ext cx="3657600" cy="2496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projection của token j qua value matrix</a:t>
            </a:r>
            <a:endParaRPr lang="en-US" sz="12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9333804-227F-7F5C-C144-A882F93574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5465" y="1088600"/>
            <a:ext cx="5753801" cy="86051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65B97F5-5C1C-3A23-35F1-F2FC9397F2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9147" y="2423393"/>
            <a:ext cx="5034266" cy="123536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E680E05-6052-DC81-6217-F1E44DDB07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981" y="4110512"/>
            <a:ext cx="3378038" cy="41934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2D8E7FF-56E4-BCF7-1D2B-00204BD263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9417" y="4108319"/>
            <a:ext cx="2588410" cy="39323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Ánh xạ 1-1: Self-Attention ↔ Mixture of Experts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— NeurIPS 2024  |  Lưu Hải Đăng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Xét output hₗ,ᵢ (token i, head l) — đây CHÍNH XÁC là output của một MoE model: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1280160"/>
            <a:ext cx="2103120" cy="475488"/>
          </a:xfrm>
          <a:prstGeom prst="rect">
            <a:avLst/>
          </a:prstGeom>
          <a:solidFill>
            <a:srgbClr val="1B2558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93192" y="1280160"/>
            <a:ext cx="19568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phần MoE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423160" y="1280160"/>
            <a:ext cx="3840480" cy="475488"/>
          </a:xfrm>
          <a:prstGeom prst="rect">
            <a:avLst/>
          </a:prstGeom>
          <a:solidFill>
            <a:srgbClr val="1B2558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96312" y="1280160"/>
            <a:ext cx="36941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Tương đương trong Self-Attention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1280160"/>
            <a:ext cx="2880360" cy="475488"/>
          </a:xfrm>
          <a:prstGeom prst="rect">
            <a:avLst/>
          </a:prstGeom>
          <a:solidFill>
            <a:srgbClr val="1B2558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36792" y="1280160"/>
            <a:ext cx="2734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chú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1755648"/>
            <a:ext cx="2103120" cy="475488"/>
          </a:xfrm>
          <a:prstGeom prst="rect">
            <a:avLst/>
          </a:prstGeom>
          <a:solidFill>
            <a:srgbClr val="F0F4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93192" y="1755648"/>
            <a:ext cx="19568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Expert fⱼ(h)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23160" y="1755648"/>
            <a:ext cx="3840480" cy="475488"/>
          </a:xfrm>
          <a:prstGeom prst="rect">
            <a:avLst/>
          </a:prstGeom>
          <a:solidFill>
            <a:srgbClr val="F0F4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496312" y="1755648"/>
            <a:ext cx="36941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(projection của token j)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1755648"/>
            <a:ext cx="2880360" cy="475488"/>
          </a:xfrm>
          <a:prstGeom prst="rect">
            <a:avLst/>
          </a:prstGeom>
          <a:solidFill>
            <a:srgbClr val="F0F4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36792" y="1755648"/>
            <a:ext cx="2734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token = N experts; DÙNG CHUNG value matrix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231136"/>
            <a:ext cx="21031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93192" y="2231136"/>
            <a:ext cx="19568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sᵢ,ⱼ(h)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23160" y="2231136"/>
            <a:ext cx="38404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496312" y="2231136"/>
            <a:ext cx="36941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2231136"/>
            <a:ext cx="28803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36792" y="2231136"/>
            <a:ext cx="2734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Quadratic theo X; đây là attention score!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2706624"/>
            <a:ext cx="2103120" cy="475488"/>
          </a:xfrm>
          <a:prstGeom prst="rect">
            <a:avLst/>
          </a:prstGeom>
          <a:solidFill>
            <a:srgbClr val="F0F4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93192" y="2706624"/>
            <a:ext cx="19568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Gating weight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23160" y="2706624"/>
            <a:ext cx="3840480" cy="475488"/>
          </a:xfrm>
          <a:prstGeom prst="rect">
            <a:avLst/>
          </a:prstGeom>
          <a:solidFill>
            <a:srgbClr val="F0F4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496312" y="2706624"/>
            <a:ext cx="36941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softmax(attention matrix)[</a:t>
            </a:r>
            <a:r>
              <a:rPr lang="en-US" sz="11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i,j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2706624"/>
            <a:ext cx="2880360" cy="475488"/>
          </a:xfrm>
          <a:prstGeom prst="rect">
            <a:avLst/>
          </a:prstGeom>
          <a:solidFill>
            <a:srgbClr val="F0F4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36792" y="2706624"/>
            <a:ext cx="2734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Normalized weight qua softmax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3182112"/>
            <a:ext cx="21031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93192" y="3182112"/>
            <a:ext cx="19568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423160" y="3186684"/>
            <a:ext cx="38404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496312" y="3182112"/>
            <a:ext cx="36941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hₗ,ᵢ = Σⱼ gating·fⱼ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63640" y="3182112"/>
            <a:ext cx="28803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336792" y="3182112"/>
            <a:ext cx="2734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ĐÚNG y chang công thức MoE!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" y="3749040"/>
            <a:ext cx="8503920" cy="749808"/>
          </a:xfrm>
          <a:prstGeom prst="rect">
            <a:avLst/>
          </a:prstGeom>
          <a:solidFill>
            <a:srgbClr val="ECFDF5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2920" y="379476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Kết luận: Mỗi attention head trong MSA layer ẩn chứa N MoE models — một cho mỗi token. Tất cả chia sẻ cùng N experts (encoded trong value matrix), mỗi token i có bộ gating riêng.</a:t>
            </a:r>
            <a:endParaRPr lang="en-US" sz="13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7B79BC2C-2B71-3573-A858-79A9FD651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8690" y="2242309"/>
            <a:ext cx="1133202" cy="459694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1779C3A-7D84-E9CD-47C2-B26AEA631A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4455" y="1796796"/>
            <a:ext cx="699297" cy="3694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5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253275"/>
          </a:solidFill>
          <a:ln w="12700">
            <a:solidFill>
              <a:srgbClr val="2532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Prefix Tuning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 Lăng kính MoE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tuning = Thêm expert mới — Phần 3.2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62048"/>
          </a:solidFill>
          <a:ln w="12700">
            <a:solidFill>
              <a:srgbClr val="162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Tuning = Thêm Expert Mới vào MoE đó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— NeurIPS 2024  |  Lưu Hải Đăng</a:t>
            </a:r>
            <a:endParaRPr lang="en-US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320040" y="777240"/>
                <a:ext cx="8503920" cy="3840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3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Khi thêm prefix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3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pPr>
                      <m:e>
                        <m:r>
                          <a:rPr lang="en-US" sz="13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𝑝</m:t>
                        </m:r>
                      </m:e>
                      <m:sup>
                        <m:r>
                          <a:rPr lang="en-US" sz="13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sz="13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3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pPr>
                      <m:e>
                        <m:r>
                          <a:rPr lang="en-US" sz="13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𝑝</m:t>
                        </m:r>
                      </m:e>
                      <m:sup>
                        <m:r>
                          <a:rPr lang="en-US" sz="13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𝑉</m:t>
                        </m:r>
                      </m:sup>
                    </m:sSup>
                  </m:oMath>
                </a14:m>
                <a:r>
                  <a:rPr lang="en-US" sz="13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35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vào</a:t>
                </a:r>
                <a:r>
                  <a:rPr lang="en-US" sz="13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attention, output token i thành:</a:t>
                </a:r>
                <a:endParaRPr lang="en-US" sz="1350" dirty="0"/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" y="777240"/>
                <a:ext cx="8503920" cy="384048"/>
              </a:xfrm>
              <a:prstGeom prst="rect">
                <a:avLst/>
              </a:prstGeom>
              <a:blipFill>
                <a:blip r:embed="rId3"/>
                <a:stretch>
                  <a:fillRect l="-215" b="-634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320040" y="1234440"/>
            <a:ext cx="8503920" cy="1325880"/>
          </a:xfrm>
          <a:prstGeom prst="rect">
            <a:avLst/>
          </a:prstGeom>
          <a:solidFill>
            <a:srgbClr val="F0F4FF"/>
          </a:solidFill>
          <a:ln w="1905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29844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5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          (Pre-trained experts)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0" y="1847088"/>
            <a:ext cx="5943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87452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           (Prefix experts MỚI)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648847"/>
            <a:ext cx="4160520" cy="2176272"/>
          </a:xfrm>
          <a:prstGeom prst="rect">
            <a:avLst/>
          </a:prstGeom>
          <a:solidFill>
            <a:srgbClr val="FFFFFF"/>
          </a:solidFill>
          <a:ln w="25400">
            <a:solidFill>
              <a:srgbClr val="1B2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651760"/>
            <a:ext cx="4160520" cy="347472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26517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Expert fⱼ (Frozen)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429593"/>
            <a:ext cx="3749040" cy="1370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Expert </a:t>
            </a:r>
            <a:r>
              <a:rPr lang="en-US" sz="12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thuộc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vào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input token xⱼ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Score function QUADRATIC theo X:</a:t>
            </a:r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</a:p>
          <a:p>
            <a:pPr marL="0" indent="0">
              <a:buNone/>
            </a:pPr>
            <a:endParaRPr lang="en-US" sz="12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2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Cố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pre-training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63440" y="2651760"/>
            <a:ext cx="4160520" cy="2176272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2651760"/>
            <a:ext cx="416052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16"/>
              <p:cNvSpPr/>
              <p:nvPr/>
            </p:nvSpPr>
            <p:spPr>
              <a:xfrm>
                <a:off x="4663440" y="2651760"/>
                <a:ext cx="416052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Prefix Expert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b="1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300" b="1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𝒇</m:t>
                        </m:r>
                      </m:e>
                      <m:sub>
                        <m:r>
                          <a:rPr lang="en-US" sz="1300" b="1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𝑵</m:t>
                        </m:r>
                        <m:r>
                          <a:rPr lang="en-US" sz="1300" b="1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+</m:t>
                        </m:r>
                        <m:r>
                          <a:rPr lang="en-US" sz="1300" b="1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13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(Learnable)</a:t>
                </a:r>
                <a:endParaRPr lang="en-US" sz="1300" dirty="0"/>
              </a:p>
            </p:txBody>
          </p:sp>
        </mc:Choice>
        <mc:Fallback xmlns="">
          <p:sp>
            <p:nvSpPr>
              <p:cNvPr id="18" name="Text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440" y="2651760"/>
                <a:ext cx="4160520" cy="347472"/>
              </a:xfrm>
              <a:prstGeom prst="rect">
                <a:avLst/>
              </a:prstGeom>
              <a:blipFill>
                <a:blip r:embed="rId4"/>
                <a:stretch>
                  <a:fillRect b="-526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17"/>
              <p:cNvSpPr/>
              <p:nvPr/>
            </p:nvSpPr>
            <p:spPr>
              <a:xfrm>
                <a:off x="4979694" y="3337268"/>
                <a:ext cx="3615666" cy="153191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→ KHÔNG </a:t>
                </a:r>
                <a:r>
                  <a:rPr lang="en-US" sz="125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phụ</a:t>
                </a:r>
                <a:r>
                  <a:rPr lang="en-US" sz="12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25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thuộc</a:t>
                </a:r>
                <a:r>
                  <a:rPr lang="en-US" sz="12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25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vào</a:t>
                </a:r>
                <a:r>
                  <a:rPr lang="en-US" sz="12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input x!</a:t>
                </a:r>
                <a:endParaRPr lang="en-US" sz="1250" dirty="0"/>
              </a:p>
              <a:p>
                <a:pPr marL="0" indent="0">
                  <a:buNone/>
                </a:pPr>
                <a:r>
                  <a:rPr lang="en-US" sz="12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→ Score function LINEAR theo xᵢ:</a:t>
                </a:r>
                <a:endParaRPr lang="en-US" sz="1250" dirty="0"/>
              </a:p>
              <a:p>
                <a:pPr marL="0" indent="0">
                  <a:buNone/>
                </a:pPr>
                <a:r>
                  <a:rPr lang="en-US" sz="12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 </a:t>
                </a:r>
              </a:p>
              <a:p>
                <a:pPr marL="0" indent="0">
                  <a:buNone/>
                </a:pPr>
                <a:endParaRPr lang="en-US" sz="12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0" indent="0">
                  <a:buNone/>
                </a:pPr>
                <a:endParaRPr lang="en-US" sz="1250" dirty="0"/>
              </a:p>
              <a:p>
                <a:pPr marL="0" indent="0">
                  <a:buNone/>
                </a:pPr>
                <a:endParaRPr lang="en-US" sz="12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0" indent="0">
                  <a:buNone/>
                </a:pPr>
                <a:r>
                  <a:rPr lang="en-US" sz="12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→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pPr>
                      <m:e>
                        <m:r>
                          <a:rPr lang="en-US" sz="12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𝑝</m:t>
                        </m:r>
                      </m:e>
                      <m:sup>
                        <m:r>
                          <a:rPr lang="en-US" sz="12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sz="12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pPr>
                      <m:e>
                        <m:r>
                          <a:rPr lang="en-US" sz="12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𝑝</m:t>
                        </m:r>
                      </m:e>
                      <m:sup>
                        <m:r>
                          <a:rPr lang="en-US" sz="12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𝑉</m:t>
                        </m:r>
                      </m:sup>
                    </m:sSup>
                  </m:oMath>
                </a14:m>
                <a:r>
                  <a:rPr lang="en-US" sz="12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25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được</a:t>
                </a:r>
                <a:r>
                  <a:rPr lang="en-US" sz="12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học (task-specific)</a:t>
                </a:r>
                <a:endParaRPr lang="en-US" sz="1250" dirty="0"/>
              </a:p>
            </p:txBody>
          </p:sp>
        </mc:Choice>
        <mc:Fallback xmlns="">
          <p:sp>
            <p:nvSpPr>
              <p:cNvPr id="19" name="Text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9694" y="3337268"/>
                <a:ext cx="3615666" cy="1531912"/>
              </a:xfrm>
              <a:prstGeom prst="rect">
                <a:avLst/>
              </a:prstGeom>
              <a:blipFill>
                <a:blip r:embed="rId5"/>
                <a:stretch>
                  <a:fillRect l="-16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57C227F3-5D47-1CFF-520B-AE359CDB93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311" y="1290238"/>
            <a:ext cx="5636439" cy="120056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258AD16-9D93-A16A-E4A9-10221D14EB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0621" y="3056110"/>
            <a:ext cx="1797932" cy="37348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E86A18B-E5F6-7777-4224-3E2B74E53E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1900" y="3080972"/>
            <a:ext cx="863779" cy="38917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73B447F-E5DC-F294-9A11-12E324C6DE4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95940" y="3080973"/>
            <a:ext cx="647260" cy="38917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C17E978-57DF-E9C0-8AC8-56407EA24A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49825" y="3981980"/>
            <a:ext cx="1152533" cy="34793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40FCF01-286F-9A4F-E678-4E1162DDA08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2358" y="3914031"/>
            <a:ext cx="1256470" cy="48383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75120AB-D6CE-0798-DDF2-5D026940090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815" y="4006508"/>
            <a:ext cx="863780" cy="2866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1E69065C-DC01-DE42-5818-AEAACD08E0E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93134" y="3891098"/>
            <a:ext cx="1306331" cy="52970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nghĩa của góc nhìn MoE đối với Continual Learning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— NeurIPS 2024  |  Lưu Hải Đăng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5573" y="80010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5573" y="800100"/>
            <a:ext cx="64008" cy="18288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0165" y="891540"/>
            <a:ext cx="39044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experts = Knowledge Base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0165" y="1184148"/>
            <a:ext cx="3904488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experts từ pre-training mã hóa tri thức chung về thế giới. Shared across tất cả tasks. Giống G-Prompt của DualPrompt — capture task-agnostic information.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32981" y="80010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32981" y="800100"/>
            <a:ext cx="64008" cy="1828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97573" y="891540"/>
            <a:ext cx="39044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experts = Task-specific Knowledge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7573" y="1184148"/>
            <a:ext cx="3904488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prefix experts mới cho mỗi task t mang tri thức đặc thù của task. Tương tự E-Prompt của DualPrompt. Cho phép model học task mới mà không disturb pretrained experts.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5573" y="274320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5573" y="2743200"/>
            <a:ext cx="64008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0165" y="2834640"/>
            <a:ext cx="39044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lại cần 2 loại experts?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0165" y="3127248"/>
            <a:ext cx="3904488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TII chọn nhầm task → pre-trained experts vẫn cứu được (shared). Chỉ prefix experts bị wrong. Đây là lý do tại sao kiến trúc 2-loại expert robust hơn.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32981" y="274320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32981" y="2743200"/>
            <a:ext cx="64008" cy="18288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7573" y="2834640"/>
            <a:ext cx="39044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Góc nhìn mới về các phương pháp CL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97573" y="3127248"/>
            <a:ext cx="3904488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L2P, DualPrompt, CODA-Prompt... đều có thể được hiểu lại qua MoE lens này. Paper cung cấp unified framework để phân tích và thiết kế prompt-based CL methods.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20040" y="4533138"/>
            <a:ext cx="8549640" cy="320040"/>
          </a:xfrm>
          <a:prstGeom prst="rect">
            <a:avLst/>
          </a:prstGeom>
          <a:solidFill>
            <a:srgbClr val="FEF9C3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4480560"/>
            <a:ext cx="8229600" cy="32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score function của prefix experts → Đây là nguồn gốc của vấn đề thống kê!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5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253275"/>
          </a:solidFill>
          <a:ln w="12700">
            <a:solidFill>
              <a:srgbClr val="2532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Vấn đề thống kê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của Linear Gating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prefix tuning gốc học kém? — Appendix A của paper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62048"/>
          </a:solidFill>
          <a:ln w="12700">
            <a:solidFill>
              <a:srgbClr val="162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bài toán: Học prefix như bài toán Regression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— NeurIPS 2024  |  Lưu Hải Đăng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nhìn quá trình học prefix như một bài toán ước lượng tham số (parameter estimation).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1261872"/>
            <a:ext cx="8503920" cy="1371600"/>
          </a:xfrm>
          <a:prstGeom prst="rect">
            <a:avLst/>
          </a:prstGeom>
          <a:solidFill>
            <a:srgbClr val="F0F4FF"/>
          </a:solidFill>
          <a:ln w="1905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/>
              <p:nvPr/>
            </p:nvSpPr>
            <p:spPr>
              <a:xfrm>
                <a:off x="502920" y="1298448"/>
                <a:ext cx="548640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300" b="1" dirty="0">
                    <a:solidFill>
                      <a:srgbClr val="1B255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Regression setting (focus head </a:t>
                </a:r>
                <a14:m>
                  <m:oMath xmlns:m="http://schemas.openxmlformats.org/officeDocument/2006/math">
                    <m:r>
                      <a:rPr lang="en-US" sz="1300" b="1" i="1" smtClean="0">
                        <a:solidFill>
                          <a:srgbClr val="1B2558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𝒍</m:t>
                    </m:r>
                  </m:oMath>
                </a14:m>
                <a:r>
                  <a:rPr lang="en-US" sz="1300" b="1" dirty="0">
                    <a:solidFill>
                      <a:srgbClr val="1B255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= 1, token </a:t>
                </a:r>
                <a14:m>
                  <m:oMath xmlns:m="http://schemas.openxmlformats.org/officeDocument/2006/math">
                    <m:r>
                      <a:rPr lang="en-US" sz="1300" b="1" i="1" smtClean="0">
                        <a:solidFill>
                          <a:srgbClr val="1B2558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𝒊</m:t>
                    </m:r>
                  </m:oMath>
                </a14:m>
                <a:r>
                  <a:rPr lang="en-US" sz="1300" b="1" dirty="0">
                    <a:solidFill>
                      <a:srgbClr val="1B255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= 1):</a:t>
                </a:r>
                <a:endParaRPr lang="en-US" sz="1300" dirty="0"/>
              </a:p>
            </p:txBody>
          </p:sp>
        </mc:Choice>
        <mc:Fallback xmlns=""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1298448"/>
                <a:ext cx="5486400" cy="320040"/>
              </a:xfrm>
              <a:prstGeom prst="rect">
                <a:avLst/>
              </a:prstGeom>
              <a:blipFill>
                <a:blip r:embed="rId3"/>
                <a:stretch>
                  <a:fillRect l="-222" b="-943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502920" y="1645920"/>
                <a:ext cx="8229600" cy="3840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  <m:t>𝑌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  <m:t>𝑖</m:t>
                        </m:r>
                      </m:sub>
                    </m:sSub>
                    <m:r>
                      <a:rPr lang="en-US" sz="1400" b="0" i="0" smtClean="0">
                        <a:solidFill>
                          <a:srgbClr val="1E293B"/>
                        </a:solidFill>
                        <a:latin typeface="Cambria Math" panose="02040503050406030204" pitchFamily="18" charset="0"/>
                        <a:ea typeface="Courier New" pitchFamily="34" charset="-122"/>
                        <a:cs typeface="Courier New" pitchFamily="34" charset="-120"/>
                      </a:rPr>
                      <m:t>   </m:t>
                    </m:r>
                  </m:oMath>
                </a14:m>
                <a:r>
                  <a:rPr lang="en-US" sz="1400" dirty="0">
                    <a:solidFill>
                      <a:srgbClr val="1E293B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  <m:t>f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  <m:t>𝐺</m:t>
                        </m:r>
                        <m:r>
                          <a:rPr lang="en-US" sz="14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  <m:t>∗</m:t>
                        </m:r>
                      </m:sub>
                    </m:sSub>
                    <m:r>
                      <a:rPr lang="en-US" sz="1400" b="0" i="1" smtClean="0">
                        <a:solidFill>
                          <a:srgbClr val="1E293B"/>
                        </a:solidFill>
                        <a:latin typeface="Cambria Math" panose="02040503050406030204" pitchFamily="18" charset="0"/>
                        <a:ea typeface="Courier New" pitchFamily="34" charset="-122"/>
                        <a:cs typeface="Courier New" pitchFamily="34" charset="-120"/>
                      </a:rPr>
                      <m:t>(</m:t>
                    </m:r>
                  </m:oMath>
                </a14:m>
                <a:r>
                  <a:rPr lang="en-US" sz="1400" dirty="0">
                    <a:solidFill>
                      <a:srgbClr val="1E293B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Xᵢ)  +  εᵢ     với εᵢ ~ N(0, ν²)  (Gaussian noise)</a:t>
                </a:r>
                <a:endParaRPr lang="en-US" sz="1400" dirty="0"/>
              </a:p>
            </p:txBody>
          </p:sp>
        </mc:Choice>
        <mc:Fallback xmlns=""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1645920"/>
                <a:ext cx="8229600" cy="384048"/>
              </a:xfrm>
              <a:prstGeom prst="rect">
                <a:avLst/>
              </a:prstGeom>
              <a:blipFill>
                <a:blip r:embed="rId4"/>
                <a:stretch>
                  <a:fillRect b="-793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9"/>
              <p:cNvSpPr/>
              <p:nvPr/>
            </p:nvSpPr>
            <p:spPr>
              <a:xfrm>
                <a:off x="502920" y="2029968"/>
                <a:ext cx="8229600" cy="5029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  <m:t>𝑔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  <m:t>𝐺</m:t>
                        </m:r>
                        <m:r>
                          <a:rPr lang="en-US" sz="1200" b="0" i="1" smtClean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64748B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 = Linear gating prefix MoE  |  Estimator: least squares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200" b="0" i="1" smtClean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  <a:ea typeface="Courier New" pitchFamily="34" charset="-122"/>
                                <a:cs typeface="Courier New" pitchFamily="34" charset="-12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  <a:ea typeface="Courier New" pitchFamily="34" charset="-122"/>
                                <a:cs typeface="Courier New" pitchFamily="34" charset="-12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  <a:ea typeface="Courier New" pitchFamily="34" charset="-122"/>
                                <a:cs typeface="Courier New" pitchFamily="34" charset="-120"/>
                              </a:rPr>
                              <m:t>𝑛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1200" dirty="0">
                    <a:solidFill>
                      <a:srgbClr val="64748B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= argmin Σ(Yᵢ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b="0" i="1" smtClean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  <m:t>f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64748B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(Xᵢ))²</a:t>
                </a:r>
                <a:endParaRPr lang="en-US" sz="1200" dirty="0"/>
              </a:p>
            </p:txBody>
          </p:sp>
        </mc:Choice>
        <mc:Fallback xmlns="">
          <p:sp>
            <p:nvSpPr>
              <p:cNvPr id="11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2029968"/>
                <a:ext cx="8229600" cy="5029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hape 10"/>
          <p:cNvSpPr/>
          <p:nvPr/>
        </p:nvSpPr>
        <p:spPr>
          <a:xfrm>
            <a:off x="320040" y="274320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743200"/>
            <a:ext cx="64008" cy="1600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" y="2834640"/>
            <a:ext cx="2441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" y="3127248"/>
            <a:ext cx="244144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Ước lượng prompt params β*, η* của prefix experts từ n mẫu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18688" y="274320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18688" y="2743200"/>
            <a:ext cx="64008" cy="1600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83280" y="2834640"/>
            <a:ext cx="2441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3127248"/>
            <a:ext cx="244144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n → ∞, tốc độ hội tụ ||β̂ - β*|| → 0 nhanh đến mức nào?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17336" y="274320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17336" y="2743200"/>
            <a:ext cx="64008" cy="1600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81928" y="2834640"/>
            <a:ext cx="2441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 quan trọng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81928" y="3127248"/>
            <a:ext cx="244144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 CL, mỗi task chỉ có ít data. Nếu cần nhiều data mới học được prompt tốt → CL fails!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20040" y="44348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Đây là lý do paper cần phân tích convergence rate của linear gating.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Identifiability — Tại sao Linear Gating hội tụ chậm?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— NeurIPS 2024  |  Lưu Hải Đăng</a:t>
            </a:r>
            <a:endParaRPr lang="en-US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320040" y="777240"/>
                <a:ext cx="8503920" cy="4114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400" b="1" dirty="0">
                    <a:solidFill>
                      <a:srgbClr val="1B255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Identifiability: </a:t>
                </a:r>
                <a:r>
                  <a:rPr lang="en-US" sz="1400" b="1" dirty="0" err="1">
                    <a:solidFill>
                      <a:srgbClr val="1B255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Nếu</a:t>
                </a:r>
                <a:r>
                  <a:rPr lang="en-US" sz="1400" b="1" dirty="0">
                    <a:solidFill>
                      <a:srgbClr val="1B255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  <m:t>f</m:t>
                        </m:r>
                      </m:e>
                      <m:sub>
                        <m:r>
                          <a:rPr lang="en-US" sz="140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1400" b="1" dirty="0">
                    <a:solidFill>
                      <a:srgbClr val="1B255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(X)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  <m:t>f</m:t>
                        </m:r>
                      </m:e>
                      <m:sub>
                        <m:r>
                          <a:rPr lang="en-US" sz="140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  <m:t>𝐺</m:t>
                        </m:r>
                        <m:r>
                          <a:rPr lang="en-US" sz="140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sz="1400" b="1" dirty="0">
                    <a:solidFill>
                      <a:srgbClr val="1B255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(X) với mọi X, thì có suy </a:t>
                </a:r>
                <a:r>
                  <a:rPr lang="en-US" sz="1400" b="1" dirty="0" err="1">
                    <a:solidFill>
                      <a:srgbClr val="1B255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ra</a:t>
                </a:r>
                <a:r>
                  <a:rPr lang="en-US" sz="1400" b="1" dirty="0">
                    <a:solidFill>
                      <a:srgbClr val="1B255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rgbClr val="1B2558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𝑮</m:t>
                    </m:r>
                  </m:oMath>
                </a14:m>
                <a:r>
                  <a:rPr lang="en-US" sz="1400" b="1" dirty="0">
                    <a:solidFill>
                      <a:srgbClr val="1B255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rgbClr val="1B2558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𝑮</m:t>
                    </m:r>
                    <m:r>
                      <a:rPr lang="en-US" sz="1400" b="1" i="1" smtClean="0">
                        <a:solidFill>
                          <a:srgbClr val="1B2558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∗</m:t>
                    </m:r>
                  </m:oMath>
                </a14:m>
                <a:r>
                  <a:rPr lang="en-US" sz="1400" b="1" dirty="0">
                    <a:solidFill>
                      <a:srgbClr val="1B255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</a:t>
                </a:r>
                <a:r>
                  <a:rPr lang="en-US" sz="1400" b="1" dirty="0" err="1">
                    <a:solidFill>
                      <a:srgbClr val="1B255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không</a:t>
                </a:r>
                <a:r>
                  <a:rPr lang="en-US" sz="1400" b="1" dirty="0">
                    <a:solidFill>
                      <a:srgbClr val="1B255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?</a:t>
                </a:r>
                <a:endParaRPr lang="en-US" sz="1400" dirty="0"/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" y="777240"/>
                <a:ext cx="8503920" cy="411480"/>
              </a:xfrm>
              <a:prstGeom prst="rect">
                <a:avLst/>
              </a:prstGeom>
              <a:blipFill>
                <a:blip r:embed="rId3"/>
                <a:stretch>
                  <a:fillRect l="-215" b="-298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320040" y="1261872"/>
            <a:ext cx="4160520" cy="324612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16052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26187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Linear Gating — Có vấn đề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719072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s = β₁ᵀ X  (linear)
Khi khai triển Taylor g_G - g_{G*}:
Các basis functions xuất hiện là
đa thức theo X: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{ Xᵛ · ∂h/∂η }   với |ν|+|γ| ≤ 2
Vấn đề: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đa thức này
</a:t>
            </a: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LINEARLY DEPENDENT!
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Không thể tách biệt ảnh hưởng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của từng expert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Tham số không identifiable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261872"/>
            <a:ext cx="4160520" cy="3246120"/>
          </a:xfrm>
          <a:prstGeom prst="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1261872"/>
            <a:ext cx="416052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126187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NoRGa — Algebraically Independent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719072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ŝ = β₁ᵀ X + α·σ(τ·β₁ᵀ X)
Với σ = tanh, sigmoid, GELU: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σ'(z) = 1 - tanh²(z)  ← KHÔNG phải đa thức!
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 expansion tạo ra: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{ Xᵛ · [1+σ'(β·X)]^(|ν|+1) · ∂h/∂η }
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σ không phải polynomial: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Các functions LINEARLY INDEPENDENT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Tham số identifiable! ✅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Tốc độ hội tụ O(1/logᵗ(n)) — Ý nghĩa thực tế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— NeurIPS 2024  |  Lưu Hải Đăng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694944"/>
            <a:ext cx="85039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chứng minh (Appendix A): với linear gating, sai số ước lượng tham số bị lower bound bởi: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1065742"/>
            <a:ext cx="8503920" cy="685800"/>
          </a:xfrm>
          <a:prstGeom prst="rect">
            <a:avLst/>
          </a:prstGeom>
          <a:solidFill>
            <a:srgbClr val="FEF9C3"/>
          </a:solidFill>
          <a:ln w="19050">
            <a:solidFill>
              <a:srgbClr val="EAB30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9768" y="1065276"/>
            <a:ext cx="8284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||β̂₁ⱼ' - β*₁ⱼ'||  ≳  O( 1 / logᵗ(n) )    với τ &gt; 0 là hằng số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" y="1792224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nghĩa thực tế — Data cần thiết để đạt sai số ε: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562252"/>
              </p:ext>
            </p:extLst>
          </p:nvPr>
        </p:nvGraphicFramePr>
        <p:xfrm>
          <a:off x="320040" y="2129285"/>
          <a:ext cx="8503920" cy="18288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 số ε mong muốn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cần (Linear gating)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cần (NoRGa)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 = 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~exp(10) ≈ 22,000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~(1/ε²) = 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 = 0.01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~exp(100) ≈ 10⁴³ 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~(1/ε²) = 10,000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 = 0.001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~exp(1000) ← impossible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~(1/ε²) = 1,000,000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274320" y="4183380"/>
            <a:ext cx="8503920" cy="530352"/>
          </a:xfrm>
          <a:prstGeom prst="rect">
            <a:avLst/>
          </a:prstGeom>
          <a:solidFill>
            <a:srgbClr val="FEF9C3"/>
          </a:solidFill>
          <a:ln w="1905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02920" y="41833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 Với CL, mỗi task thường chỉ có vài trăm đến vài nghìn samples. Linear gating về mặt lý thuyết là BẤT KHẢ THI khi muốn ước lượng tham số tốt!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5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253275"/>
          </a:solidFill>
          <a:ln w="12700">
            <a:solidFill>
              <a:srgbClr val="2532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58825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NoRGa —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Residual Gates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360534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pháp: score function mới — Phần 4 của paper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62048"/>
          </a:solidFill>
          <a:ln w="12700">
            <a:solidFill>
              <a:srgbClr val="162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189EB2-1D9E-8560-4846-9F86DDB5B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69815"/>
            <a:ext cx="6771802" cy="185627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— Công thức Score Function Mới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— NeurIPS 2024  |  Lưu Hải Đăng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thế score function tuyến tính của prefix experts bằng: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8503920" cy="1508760"/>
          </a:xfrm>
          <a:prstGeom prst="rect">
            <a:avLst/>
          </a:prstGeom>
          <a:solidFill>
            <a:srgbClr val="FEF9C3"/>
          </a:solidFill>
          <a:ln w="254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280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Score Function: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6276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50334" y="2176272"/>
            <a:ext cx="495348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term (residual)                             Non-linear term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92608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926080"/>
            <a:ext cx="64008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" y="2926080"/>
            <a:ext cx="390448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sᵢ,ₙ₊ⱼ(X)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" y="3310128"/>
            <a:ext cx="3904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linear gốc: 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Residual connection đảm bảo gradient luôn flow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27448" y="292608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27448" y="292608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2040" y="2939796"/>
            <a:ext cx="3904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 (learnable scalar)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17"/>
              <p:cNvSpPr/>
              <p:nvPr/>
            </p:nvSpPr>
            <p:spPr>
              <a:xfrm>
                <a:off x="4892040" y="3310128"/>
                <a:ext cx="3904488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Kiểm soát tỷ trọng của non-linear term. Được học cùng </a:t>
                </a:r>
                <a:r>
                  <a:rPr lang="en-US" sz="125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với</a:t>
                </a:r>
                <a:r>
                  <a:rPr lang="en-US" sz="12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pPr>
                      <m:e>
                        <m:r>
                          <a:rPr lang="en-US" sz="12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𝑝</m:t>
                        </m:r>
                      </m:e>
                      <m:sup>
                        <m:r>
                          <a:rPr lang="en-US" sz="12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sz="12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pPr>
                      <m:e>
                        <m:r>
                          <a:rPr lang="en-US" sz="12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𝑝</m:t>
                        </m:r>
                      </m:e>
                      <m:sup>
                        <m:r>
                          <a:rPr lang="en-US" sz="12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𝑉</m:t>
                        </m:r>
                      </m:sup>
                    </m:sSup>
                  </m:oMath>
                </a14:m>
                <a:r>
                  <a:rPr lang="en-US" sz="12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25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trong</a:t>
                </a:r>
                <a:r>
                  <a:rPr lang="en-US" sz="12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training.</a:t>
                </a:r>
                <a:endParaRPr lang="en-US" sz="1250" dirty="0"/>
              </a:p>
            </p:txBody>
          </p:sp>
        </mc:Choice>
        <mc:Fallback xmlns="">
          <p:sp>
            <p:nvSpPr>
              <p:cNvPr id="19" name="Text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2040" y="3310128"/>
                <a:ext cx="3904488" cy="274320"/>
              </a:xfrm>
              <a:prstGeom prst="rect">
                <a:avLst/>
              </a:prstGeom>
              <a:blipFill>
                <a:blip r:embed="rId3"/>
                <a:stretch>
                  <a:fillRect l="-156" t="-37778" b="-5555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Shape 18"/>
          <p:cNvSpPr/>
          <p:nvPr/>
        </p:nvSpPr>
        <p:spPr>
          <a:xfrm>
            <a:off x="320040" y="3767328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3767328"/>
            <a:ext cx="64008" cy="7498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" y="3781044"/>
            <a:ext cx="3904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 (learnable scalar)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" y="4151376"/>
            <a:ext cx="3904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soát 'độ mạnh' của non-linearity. τ → 0 thì NoRGa degenerate về linear gating.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27448" y="3767328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27448" y="3767328"/>
            <a:ext cx="64008" cy="7498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92040" y="3767328"/>
            <a:ext cx="3904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 (non-linear activation)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92040" y="4151376"/>
            <a:ext cx="3904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tanh, sigmoid, hoặc GELU. Không phải polynomial → đảm bảo algebraic independence.</a:t>
            </a:r>
            <a:endParaRPr lang="en-US" sz="12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D08660B-5B15-801A-B94C-2D6FBB0F70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4298" y="1726182"/>
            <a:ext cx="6058104" cy="42469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C668B26-F703-38E9-195A-EA39FA9330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7090" y="3012404"/>
            <a:ext cx="1025980" cy="39507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Non-linear Activation đảm bảo Algebraic Independence?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— NeurIPS 2024  |  Lưu Hải Đăng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Đây là cốt lõi lý thuyết của paper — cần hiểu kỹ điều này.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8503920" cy="713232"/>
          </a:xfrm>
          <a:prstGeom prst="rect">
            <a:avLst/>
          </a:prstGeom>
          <a:solidFill>
            <a:srgbClr val="F0F4FF"/>
          </a:solidFill>
          <a:ln w="1905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2618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nghĩa 4.2 — Algebraic Independence: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5361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h(·,η) và σ(·) là algebraically independent nếu tập hàm { Xᵛ·[1+σ'(β·X)]^(|ν|+1) · ∂h/∂η } là linearly independent.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0040" y="201168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σ phải non-polynomial?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2450592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2523744"/>
            <a:ext cx="402336" cy="40233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523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13"/>
              <p:cNvSpPr/>
              <p:nvPr/>
            </p:nvSpPr>
            <p:spPr>
              <a:xfrm>
                <a:off x="859536" y="2632438"/>
                <a:ext cx="2011680" cy="3221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50" b="1" dirty="0">
                    <a:solidFill>
                      <a:srgbClr val="0EA5E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Khai triển Taylor </a:t>
                </a:r>
                <a:r>
                  <a:rPr lang="en-US" sz="1150" b="1" dirty="0" err="1">
                    <a:solidFill>
                      <a:srgbClr val="0EA5E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của</a:t>
                </a:r>
                <a:r>
                  <a:rPr lang="en-US" sz="1150" b="1" dirty="0">
                    <a:solidFill>
                      <a:srgbClr val="0EA5E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50" b="1" i="1" smtClean="0">
                            <a:solidFill>
                              <a:srgbClr val="0EA5E9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150" b="1" i="1" smtClean="0">
                            <a:solidFill>
                              <a:srgbClr val="0EA5E9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𝒈</m:t>
                        </m:r>
                      </m:e>
                      <m:sub>
                        <m:r>
                          <a:rPr lang="en-US" sz="1150" b="1" i="1" smtClean="0">
                            <a:solidFill>
                              <a:srgbClr val="0EA5E9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𝑮</m:t>
                        </m:r>
                      </m:sub>
                    </m:sSub>
                  </m:oMath>
                </a14:m>
                <a:r>
                  <a:rPr lang="en-US" sz="1150" b="1" dirty="0">
                    <a:solidFill>
                      <a:srgbClr val="0EA5E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50" b="1" i="1" smtClean="0">
                            <a:solidFill>
                              <a:srgbClr val="0EA5E9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150" b="1" i="1" smtClean="0">
                            <a:solidFill>
                              <a:srgbClr val="0EA5E9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𝒈</m:t>
                        </m:r>
                      </m:e>
                      <m:sub>
                        <m:r>
                          <a:rPr lang="en-US" sz="1150" b="1" i="1" smtClean="0">
                            <a:solidFill>
                              <a:srgbClr val="0EA5E9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𝑮</m:t>
                        </m:r>
                        <m:r>
                          <a:rPr lang="en-US" sz="1150" b="1" i="1" smtClean="0">
                            <a:solidFill>
                              <a:srgbClr val="0EA5E9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∗</m:t>
                        </m:r>
                      </m:sub>
                    </m:sSub>
                  </m:oMath>
                </a14:m>
                <a:endParaRPr lang="en-US" sz="1150" b="1" dirty="0">
                  <a:solidFill>
                    <a:srgbClr val="0EA5E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0" indent="0">
                  <a:buNone/>
                </a:pPr>
                <a:endParaRPr lang="en-US" sz="1150" dirty="0"/>
              </a:p>
            </p:txBody>
          </p:sp>
        </mc:Choice>
        <mc:Fallback xmlns="">
          <p:sp>
            <p:nvSpPr>
              <p:cNvPr id="15" name="Text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536" y="2632438"/>
                <a:ext cx="2011680" cy="322108"/>
              </a:xfrm>
              <a:prstGeom prst="rect">
                <a:avLst/>
              </a:prstGeom>
              <a:blipFill>
                <a:blip r:embed="rId3"/>
                <a:stretch>
                  <a:fillRect t="-1886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14"/>
          <p:cNvSpPr/>
          <p:nvPr/>
        </p:nvSpPr>
        <p:spPr>
          <a:xfrm>
            <a:off x="429768" y="2926080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Để chứng minh G = G*, ta khai triển sai số quanh G* và cần show tất cả hệ số đều bằng 0.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18688" y="2450592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310128" y="2523744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10128" y="2523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13048" y="252374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functions xuất hiện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328416" y="2926080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Khai triển tạo ra các terms: Xᵛ · [1+σ'(β·X)]^(|ν|+1) · ∂h/∂η. Đây là các 'basis functions'.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17336" y="2450592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08776" y="2523744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08776" y="2523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11696" y="252374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linearly independent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27064" y="2926080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basis functions linearly independent → tổng bằng 0 </a:t>
            </a: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tất cả hệ số bằng 0 → G = G* (identifiable).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3639312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11480" y="3712464"/>
            <a:ext cx="402336" cy="4023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11480" y="3712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4400" y="371246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linear gating fails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29768" y="4114800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σ là polynomial (linear): σ'(z) = const → [1+const] là hằng số → basis functions chỉ còn Xᵛ·∂h/∂η → polynomial → CÓ THỂ linearly dependent.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18688" y="3639312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310128" y="3712464"/>
            <a:ext cx="402336" cy="40233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310128" y="3712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813048" y="371246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tanh/sigmoid/GELU work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328416" y="4114800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σ'(z) = 1-tanh²(z) KHÔNG phải đa thức → [1+σ'(β·X)] là hàm transcendental → không thể viết như tổ hợp tuyến tính của các Xᵛ → linearly independent ✅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cần Residual Connection? — Vanishing Gradient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— NeurIPS 2024  |  Lưu Hải Đăng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704088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bỏ phần linear, chỉ dùng thuần non-linear: ŝ = α·σ(τ·β₁ᵀX) — Vấn đề gì xảy ra?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1344168"/>
            <a:ext cx="4160520" cy="2304288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046988"/>
            <a:ext cx="416052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04698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Không có Residual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691640"/>
            <a:ext cx="3749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ŝ = α·σ(τ·β₁ᵀX)
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Gradient: ∂ŝ/∂β₁ = α·τ·σ'(τ·β₁ᵀX)·X
Khi τ·β₁ᵀX lớn (saturation):
</a:t>
            </a: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tanh'(z) ≈ 0
  sigmoid'(z) ≈ 0
→ Gradient ≈ 0 → Vanishing!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p^K không được update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Training stuck! ❌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1261871"/>
            <a:ext cx="4160520" cy="2395729"/>
          </a:xfrm>
          <a:prstGeom prst="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1046988"/>
            <a:ext cx="4160520" cy="432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104698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Với Residual Connection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691640"/>
            <a:ext cx="3749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ŝ = β₁ᵀX + α·σ(τ·β₁ᵀX)
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Gradient: ∂ŝ/∂β₁ = X + α·τ·σ'(τ·β₁ᵀX)·X
</a:t>
            </a: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X · (1 + α·τ·σ'(τ·β₁ᵀX))
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saturation:
</a:t>
            </a:r>
            <a:r>
              <a:rPr lang="en-US" sz="12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σ' ≈ 0 → gradient ≈ X
→ LUÔN có gradient từ phần linear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Training ổn định! ✅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0040" y="3694176"/>
            <a:ext cx="8503920" cy="713232"/>
          </a:xfrm>
          <a:prstGeom prst="rect">
            <a:avLst/>
          </a:prstGeom>
          <a:solidFill>
            <a:srgbClr val="F0F4FF"/>
          </a:solidFill>
          <a:ln w="1905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756611"/>
            <a:ext cx="8229600" cy="5822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Residual connection trong NoRGa giống hệt ResNet — highway gradient giúp deep learning training ổn định.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" y="437083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Bonus: α và τ là learnable → model TỰ học mức độ non-linearity phù hợp cho từng task!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Implementation — Chỉ Sửa Attention Matrix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— NeurIPS 2024  |  Lưu Hải Đăng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cần thay đổi kiến trúc phức tạp — chỉ cần sửa 1 dòng trong attention computation: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8503920" cy="1280160"/>
          </a:xfrm>
          <a:prstGeom prst="rect">
            <a:avLst/>
          </a:prstGeom>
          <a:solidFill>
            <a:srgbClr val="F0F4FF"/>
          </a:solidFill>
          <a:ln w="1905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2618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1 — Tách attention matrix (như thường):</a:t>
            </a:r>
            <a:endParaRPr lang="en-US" sz="1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502920" y="1554480"/>
                <a:ext cx="4572000" cy="3840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  <m:t>𝑨</m:t>
                        </m:r>
                      </m:e>
                      <m:sub>
                        <m:r>
                          <a:rPr lang="en-US" sz="1400" b="1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  <m:t>𝒍</m:t>
                        </m:r>
                      </m:sub>
                    </m:sSub>
                  </m:oMath>
                </a14:m>
                <a:r>
                  <a:rPr lang="en-US" sz="1400" b="1" dirty="0">
                    <a:solidFill>
                      <a:srgbClr val="1E293B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 =  [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400" b="1" i="1" smtClean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  <a:ea typeface="Courier New" pitchFamily="34" charset="-122"/>
                                <a:cs typeface="Courier New" pitchFamily="34" charset="-120"/>
                              </a:rPr>
                            </m:ctrlPr>
                          </m:sSubPr>
                          <m:e>
                            <m:r>
                              <a:rPr lang="en-US" sz="1400" b="1" i="1" smtClean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  <a:ea typeface="Courier New" pitchFamily="34" charset="-122"/>
                                <a:cs typeface="Courier New" pitchFamily="34" charset="-120"/>
                              </a:rPr>
                              <m:t>𝑨</m:t>
                            </m:r>
                          </m:e>
                          <m:sub>
                            <m:r>
                              <a:rPr lang="en-US" sz="1400" b="1" i="1" smtClean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  <a:ea typeface="Courier New" pitchFamily="34" charset="-122"/>
                                <a:cs typeface="Courier New" pitchFamily="34" charset="-120"/>
                              </a:rPr>
                              <m:t>𝒍</m:t>
                            </m:r>
                          </m:sub>
                        </m:sSub>
                      </m:e>
                      <m:sup>
                        <m:r>
                          <a:rPr lang="en-US" sz="1400" b="1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  <m:t>𝒑𝒓𝒐𝒎𝒑𝒕</m:t>
                        </m:r>
                      </m:sup>
                    </m:sSup>
                  </m:oMath>
                </a14:m>
                <a:r>
                  <a:rPr lang="en-US" sz="1400" b="1" dirty="0">
                    <a:solidFill>
                      <a:srgbClr val="1E293B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400" b="1" i="1" smtClean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  <a:ea typeface="Courier New" pitchFamily="34" charset="-122"/>
                                <a:cs typeface="Courier New" pitchFamily="34" charset="-120"/>
                              </a:rPr>
                            </m:ctrlPr>
                          </m:sSubPr>
                          <m:e>
                            <m:r>
                              <a:rPr lang="en-US" sz="1400" b="1" i="1" smtClean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  <a:ea typeface="Courier New" pitchFamily="34" charset="-122"/>
                                <a:cs typeface="Courier New" pitchFamily="34" charset="-120"/>
                              </a:rPr>
                              <m:t>𝑨</m:t>
                            </m:r>
                          </m:e>
                          <m:sub>
                            <m:r>
                              <a:rPr lang="en-US" sz="1400" b="1" i="1" smtClean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  <a:ea typeface="Courier New" pitchFamily="34" charset="-122"/>
                                <a:cs typeface="Courier New" pitchFamily="34" charset="-120"/>
                              </a:rPr>
                              <m:t>𝒍</m:t>
                            </m:r>
                          </m:sub>
                        </m:sSub>
                      </m:e>
                      <m:sup>
                        <m:r>
                          <a:rPr lang="en-US" sz="1400" b="1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  <m:t>𝒑𝒓𝒆𝒕𝒓𝒂𝒊𝒏</m:t>
                        </m:r>
                      </m:sup>
                    </m:sSup>
                  </m:oMath>
                </a14:m>
                <a:r>
                  <a:rPr lang="en-US" sz="1400" b="1" dirty="0">
                    <a:solidFill>
                      <a:srgbClr val="1E293B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]</a:t>
                </a:r>
                <a:endParaRPr lang="en-US" sz="1400" dirty="0"/>
              </a:p>
            </p:txBody>
          </p:sp>
        </mc:Choice>
        <mc:Fallback xmlns=""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1554480"/>
                <a:ext cx="4572000" cy="384048"/>
              </a:xfrm>
              <a:prstGeom prst="rect">
                <a:avLst/>
              </a:prstGeom>
              <a:blipFill>
                <a:blip r:embed="rId3"/>
                <a:stretch>
                  <a:fillRect b="-1111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9"/>
              <p:cNvSpPr/>
              <p:nvPr/>
            </p:nvSpPr>
            <p:spPr>
              <a:xfrm>
                <a:off x="502920" y="1938178"/>
                <a:ext cx="8229600" cy="39354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smtClean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  <a:ea typeface="Courier New" pitchFamily="34" charset="-122"/>
                                <a:cs typeface="Courier New" pitchFamily="34" charset="-12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  <a:ea typeface="Courier New" pitchFamily="34" charset="-122"/>
                                <a:cs typeface="Courier New" pitchFamily="34" charset="-12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  <a:ea typeface="Courier New" pitchFamily="34" charset="-122"/>
                                <a:cs typeface="Courier New" pitchFamily="34" charset="-120"/>
                              </a:rPr>
                              <m:t>𝑙</m:t>
                            </m:r>
                          </m:sub>
                        </m:sSub>
                      </m:e>
                      <m:sup>
                        <m:r>
                          <a:rPr lang="en-US" sz="1200" b="0" i="1" smtClean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  <m:t>𝑝𝑟𝑜𝑚𝑝𝑡</m:t>
                        </m:r>
                      </m:sup>
                    </m:sSup>
                  </m:oMath>
                </a14:m>
                <a:r>
                  <a:rPr lang="en-US" sz="1200" dirty="0">
                    <a:solidFill>
                      <a:srgbClr val="64748B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smtClean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  <m:t>𝑋</m:t>
                        </m:r>
                      </m:e>
                      <m:sup>
                        <m:r>
                          <a:rPr lang="en-US" sz="1200" b="0" i="1" smtClean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  <m:t>𝑄</m:t>
                        </m:r>
                      </m:sup>
                    </m:sSup>
                  </m:oMath>
                </a14:m>
                <a:r>
                  <a:rPr lang="en-US" sz="1200" dirty="0">
                    <a:solidFill>
                      <a:srgbClr val="64748B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  <m:t>𝐻</m:t>
                        </m:r>
                      </m:e>
                      <m:sub>
                        <m:r>
                          <a:rPr lang="en-US" sz="1200" b="0" i="1" dirty="0" smtClean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64748B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dirty="0" smtClean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</m:ctrlPr>
                      </m:sSupPr>
                      <m:e>
                        <m:r>
                          <a:rPr lang="en-US" sz="1200" b="0" i="1" dirty="0" smtClean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  <m:t>𝑝</m:t>
                        </m:r>
                      </m:e>
                      <m:sup>
                        <m:sSup>
                          <m:sSupPr>
                            <m:ctrlPr>
                              <a:rPr lang="en-US" sz="1200" b="0" i="1" dirty="0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  <a:ea typeface="Courier New" pitchFamily="34" charset="-122"/>
                                <a:cs typeface="Courier New" pitchFamily="34" charset="-120"/>
                              </a:rPr>
                            </m:ctrlPr>
                          </m:sSupPr>
                          <m:e>
                            <m:r>
                              <a:rPr lang="en-US" sz="1200" b="0" i="1" dirty="0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  <a:ea typeface="Courier New" pitchFamily="34" charset="-122"/>
                                <a:cs typeface="Courier New" pitchFamily="34" charset="-120"/>
                              </a:rPr>
                              <m:t>𝑘</m:t>
                            </m:r>
                          </m:e>
                          <m:sup>
                            <m:r>
                              <a:rPr lang="en-US" sz="1200" b="0" i="1" dirty="0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  <a:ea typeface="Courier New" pitchFamily="34" charset="-122"/>
                                <a:cs typeface="Courier New" pitchFamily="34" charset="-120"/>
                              </a:rPr>
                              <m:t>𝑇</m:t>
                            </m:r>
                          </m:sup>
                        </m:sSup>
                      </m:sup>
                    </m:sSup>
                  </m:oMath>
                </a14:m>
                <a:r>
                  <a:rPr lang="en-US" sz="1200" dirty="0">
                    <a:solidFill>
                      <a:srgbClr val="64748B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/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200" b="0" i="1" smtClean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  <a:ea typeface="Courier New" pitchFamily="34" charset="-122"/>
                                <a:cs typeface="Courier New" pitchFamily="34" charset="-12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  <a:ea typeface="Courier New" pitchFamily="34" charset="-122"/>
                                <a:cs typeface="Courier New" pitchFamily="34" charset="-12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  <a:ea typeface="Courier New" pitchFamily="34" charset="-122"/>
                                <a:cs typeface="Courier New" pitchFamily="34" charset="-120"/>
                              </a:rPr>
                              <m:t>𝑣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sz="1200" dirty="0">
                    <a:solidFill>
                      <a:srgbClr val="64748B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  ←  N × L matrix (N tokens × L prefix)</a:t>
                </a:r>
                <a:endParaRPr lang="en-US" sz="1200" dirty="0"/>
              </a:p>
            </p:txBody>
          </p:sp>
        </mc:Choice>
        <mc:Fallback xmlns="">
          <p:sp>
            <p:nvSpPr>
              <p:cNvPr id="11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1938178"/>
                <a:ext cx="8229600" cy="393541"/>
              </a:xfrm>
              <a:prstGeom prst="rect">
                <a:avLst/>
              </a:prstGeom>
              <a:blipFill>
                <a:blip r:embed="rId4"/>
                <a:stretch>
                  <a:fillRect b="-468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hape 10"/>
          <p:cNvSpPr/>
          <p:nvPr/>
        </p:nvSpPr>
        <p:spPr>
          <a:xfrm>
            <a:off x="320040" y="2606040"/>
            <a:ext cx="8503920" cy="1234440"/>
          </a:xfrm>
          <a:prstGeom prst="rect">
            <a:avLst/>
          </a:prstGeom>
          <a:solidFill>
            <a:srgbClr val="FEF9C3"/>
          </a:solidFill>
          <a:ln w="254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6334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2 — Áp dụng NoRGa (phần quan trọng duy nhất):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29260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Â^prompt_l  =  A^prompt_l  +  α · σ( τ · A^prompt_l )     ← element-wise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34015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A^pretrain_l không đổi — bảo tồn pre-trained knowledge!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931920"/>
            <a:ext cx="8503920" cy="502920"/>
          </a:xfrm>
          <a:prstGeom prst="rect">
            <a:avLst/>
          </a:prstGeom>
          <a:solidFill>
            <a:srgbClr val="ECFDF5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977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Bước 3 — Tiếp tục bình thường: softmax(Âₗ) × V  →  Concat all heads  →  Output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" y="45262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Overhead: chỉ thêm 2 scalar parameters (α, τ) — không thêm layers, không thêm matrices!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5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253275"/>
          </a:solidFill>
          <a:ln w="12700">
            <a:solidFill>
              <a:srgbClr val="2532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Chứng minh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thuyết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4.1 và 4.3 — Tại sao NoRGa hội tụ nhanh hơn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62048"/>
          </a:solidFill>
          <a:ln w="12700">
            <a:solidFill>
              <a:srgbClr val="162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4.1 — Regression Estimation Rate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— NeurIPS 2024  |  Lưu Hải Đăng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Trước tiên cần biết: hàm regression hội tụ nhanh đến mức nào?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8503920" cy="1097280"/>
          </a:xfrm>
          <a:prstGeom prst="rect">
            <a:avLst/>
          </a:prstGeom>
          <a:solidFill>
            <a:srgbClr val="FEF9C3"/>
          </a:solidFill>
          <a:ln w="254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2618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4.1 (Regression Estimation Rate):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||g_{Ĝₙ} - g_{G*}||_{L²(μ)}  =  O_P( √(log(n)/n) 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0040" y="246888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2468880"/>
            <a:ext cx="64008" cy="1920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" y="2560320"/>
            <a:ext cx="2441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Tốc độ √(log n / n)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" y="2852928"/>
            <a:ext cx="2441448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Đây là 'parametric rate' — tốc độ lý tưởng cho bài toán có số tham số hữu hạn. Chỉ chậm hơn 1/√n một factor log nhỏ (từ entropy bound của class hàm MoE).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18688" y="246888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18688" y="2468880"/>
            <a:ext cx="64008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83280" y="2560320"/>
            <a:ext cx="2441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có factor log n?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2852928"/>
            <a:ext cx="2441448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models thuộc lớp hàm phức tạp hơn linear regression → cần Rademacher complexity hay covering number bounds → thêm log n factor.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17336" y="246888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17336" y="2468880"/>
            <a:ext cx="64008" cy="1920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81928" y="2560320"/>
            <a:ext cx="2441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nghĩa với parameter estimation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81928" y="2852928"/>
            <a:ext cx="2441448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4.1 là ĐIỀU KIỆN CẦN. Nó nói hàm g hội tụ tốt. Nhưng hàm tốt ≠ tham số tốt! Cần thêm algebraic independence để suy ra tham số (Theorem 4.3).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20040" y="44805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Theorem 4.1 cung cấp upper bound. Theorem 4.3 dùng algebraic independence để chuyển từ function rate → parameter rate.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Voronoi Loss — Đo lỗi ước lượng tham số giữa 2 Mixing Measures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— NeurIPS 2024  |  Lưu Hải Đăng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một cách đo 'khoảng cách' giữa G (ước lượng) và G* (thật) khi cả hai là mixing measures.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8503920" cy="731520"/>
          </a:xfrm>
          <a:prstGeom prst="rect">
            <a:avLst/>
          </a:prstGeom>
          <a:solidFill>
            <a:srgbClr val="F0F4FF"/>
          </a:solidFill>
          <a:ln w="1905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2618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Voronoi cell Vⱼ': Tập các atoms i trong Ĝₙ gần với atom j' của G* nhất.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5819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nghĩa: Mỗi expert thật j' được 'phủ' bởi một hoặc nhiều expert ước lượng. Voronoi cell nhóm các experts ước lượng lại theo expert thật nào chúng xấp xỉ.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2084832"/>
            <a:ext cx="416052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2084832"/>
            <a:ext cx="416052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0848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|Vⱼ'| = 1  (Exactly-specified)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2496312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expert ước lượng ↔ 1 expert thật
Voronoi loss đo:
</a:t>
            </a: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Σ exp(β₀ᵢ) · [||Δβ₁|| + ||Δη||]
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rate:
</a:t>
            </a: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O_P(√(log n / n))
</a:t>
            </a:r>
            <a:r>
              <a:rPr lang="en-US" sz="12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Tốc độ nhanh (parametric)!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63440" y="2084832"/>
            <a:ext cx="416052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2084832"/>
            <a:ext cx="41605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20848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|Vⱼ'| &gt; 1  (Over-specified)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496312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expert ước lượng ↔ 1 expert thật
(vì L' &gt; L — over-parameterize)
Voronoi loss đo:
</a:t>
            </a: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Σ exp(β₀ᵢ) · [||Δβ₁||² + ||Δη||²]
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rate:
</a:t>
            </a: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O_P(⁴√(log n / n))
</a:t>
            </a: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Chậm hơn 1 bậc, vẫn polynomial.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0040" y="4462272"/>
            <a:ext cx="8503920" cy="411480"/>
          </a:xfrm>
          <a:prstGeom prst="rect">
            <a:avLst/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448970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hai trường hợp đều POLYNOMIAL — chỉ cần dữ liệu tăng polynomial để đạt sai số ε. Đây là đột phá so với linear gating (exponential).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4.3 — Tổng kết và So sánh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— NeurIPS 2024  |  Lưu Hải Đăng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8503920" cy="1234440"/>
          </a:xfrm>
          <a:prstGeom prst="rect">
            <a:avLst/>
          </a:prstGeom>
          <a:solidFill>
            <a:srgbClr val="FEF9C3"/>
          </a:solidFill>
          <a:ln w="254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4.3 (Parameter Estimation Rate — NoRGa):</a:t>
            </a:r>
            <a:endParaRPr lang="en-US" sz="1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/>
              <p:nvPr/>
            </p:nvSpPr>
            <p:spPr>
              <a:xfrm>
                <a:off x="502920" y="1115568"/>
                <a:ext cx="8229600" cy="5029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Nếu h(·,η) và σ(·) algebraically independent  →  L₁(Ĝₙ, G*)  =  ÕP(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</m:ctrlPr>
                      </m:sSupPr>
                      <m:e>
                        <m:r>
                          <a:rPr lang="en-US" sz="1400" b="1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  <m:t>𝒏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  <m:t>−</m:t>
                        </m:r>
                        <m:r>
                          <a:rPr lang="en-US" sz="1400" b="1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  <m:t>𝟏</m:t>
                        </m:r>
                        <m:r>
                          <m:rPr>
                            <m:lit/>
                          </m:rPr>
                          <a:rPr lang="en-US" sz="1400" b="1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  <m:t>/</m:t>
                        </m:r>
                        <m:r>
                          <a:rPr lang="en-US" sz="1400" b="1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ourier New" pitchFamily="34" charset="-122"/>
                            <a:cs typeface="Courier New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400" b="1" dirty="0">
                    <a:solidFill>
                      <a:srgbClr val="1E293B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)</a:t>
                </a:r>
                <a:endParaRPr lang="en-US" sz="1400" dirty="0"/>
              </a:p>
            </p:txBody>
          </p:sp>
        </mc:Choice>
        <mc:Fallback xmlns=""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1115568"/>
                <a:ext cx="8229600" cy="502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8"/>
          <p:cNvSpPr/>
          <p:nvPr/>
        </p:nvSpPr>
        <p:spPr>
          <a:xfrm>
            <a:off x="502920" y="16276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||β̂ - β*|| =  O_P(√(log n / n)) [exact] </a:t>
            </a:r>
            <a:r>
              <a:rPr lang="en-US" sz="1250" dirty="0" err="1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hoặc</a:t>
            </a: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O_P(⁴√(log n / n)) [over-specified]</a:t>
            </a:r>
            <a:endParaRPr lang="en-US" sz="12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103120"/>
          <a:ext cx="8503920" cy="19659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Phương pháp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cho error 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Gating (Prefix Tuning gốc)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Chưa được phân tích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O(1/logᵗ(n))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exp(1/εᵀ) — EXPONENTIAL 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NoRGa (exact-specified)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O(√(logn/n))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O(√(logn/n))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poly(1/ε) ≈ 1/ε² — Polynomial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NoRGa (over-specified)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O(√(logn/n))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O(⁴√(logn/n))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poly(1/ε) ≈ 1/ε⁴ — Polynomial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20040" y="4160520"/>
            <a:ext cx="8503920" cy="640080"/>
          </a:xfrm>
          <a:prstGeom prst="rect">
            <a:avLst/>
          </a:prstGeom>
          <a:solidFill>
            <a:srgbClr val="ECFDF5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0292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Từ EXPONENTIAL xuống POLYNOMIAL — đây là cải thiện mang tính bậc thang (qualitative improvement). Với CL thực tế (task nhỏ, ít data), đây có ý nghĩa rất lớn.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25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253275"/>
          </a:solidFill>
          <a:ln w="12700">
            <a:solidFill>
              <a:srgbClr val="2532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Thực nghiệm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Đánh giá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 trên Split CIFAR-100, ImageNet-R, CUB-200, 5-Datasets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62048"/>
          </a:solidFill>
          <a:ln w="12700">
            <a:solidFill>
              <a:srgbClr val="162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Benchmarks, Metrics và Baselines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— NeurIPS 2024  |  Lưu Hải Đăng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Settings: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416052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64008" cy="5303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" y="123444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CIFAR-100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" y="14630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classes → 10 tasks × 10 classes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27448" y="1188720"/>
            <a:ext cx="416052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27448" y="1188720"/>
            <a:ext cx="64008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123444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ImageNet-R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4630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classes → 10 tasks, diverse domains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1810512"/>
            <a:ext cx="416052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1810512"/>
            <a:ext cx="64008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" y="185623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CUB-200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" y="20848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bird species, fine-grained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27448" y="1810512"/>
            <a:ext cx="416052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27448" y="1810512"/>
            <a:ext cx="64008" cy="5303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185623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5-Datasets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20848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datasets với large inter-task differences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0040" y="248716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Models: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20040" y="28346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ViT-B/16 với 5 pre-training paradigms: Sup-21K, iBOT-21K, iBOT-1K, DINO-1K, MoCo v3-1K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0040" y="324612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20040" y="3611880"/>
            <a:ext cx="2697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0040" y="3611880"/>
            <a:ext cx="64008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4632" y="3703320"/>
            <a:ext cx="2441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 — Final Average Accuracy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4632" y="3995928"/>
            <a:ext cx="2441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trung bình sau task cuối cùng. Metric quan trọng nhất.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218688" y="3611880"/>
            <a:ext cx="2697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18688" y="3611880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383280" y="3703320"/>
            <a:ext cx="2441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— Cumulative Average Accuracy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383280" y="3995928"/>
            <a:ext cx="2441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trung bình lịch sử qua tất cả tasks.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117336" y="3611880"/>
            <a:ext cx="2697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117336" y="3611880"/>
            <a:ext cx="64008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81928" y="3703320"/>
            <a:ext cx="2441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 — Average Forgetting Measure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281928" y="3995928"/>
            <a:ext cx="2441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mức độ quên kiến thức cũ. Càng nhỏ càng tốt.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A2D305-1EE1-C1A7-AD85-B35A266F4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96739A4-532F-CA65-F8F4-5FE8F1EC6190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3A47E9D-C930-C2D1-6F32-DCDE3A4C5040}"/>
              </a:ext>
            </a:extLst>
          </p:cNvPr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CD00DE7-135B-4082-C4B8-68B4F541CA98}"/>
              </a:ext>
            </a:extLst>
          </p:cNvPr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— Split CIFAR-100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80DF0D2-363B-EE8C-08CF-3824F54D2957}"/>
              </a:ext>
            </a:extLst>
          </p:cNvPr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7A773C0-E67C-AD56-49F3-20E5EABCCA31}"/>
              </a:ext>
            </a:extLst>
          </p:cNvPr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— NeurIPS 2024  |  Lưu Hải Đăng</a:t>
            </a:r>
            <a:endParaRPr lang="en-US" sz="1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25DFCCF-EF45-FF89-9968-65C0284D792C}"/>
              </a:ext>
            </a:extLst>
          </p:cNvPr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A5B3FA9-0E4C-022F-E5C0-404886C97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88" y="731520"/>
            <a:ext cx="6411579" cy="4096512"/>
          </a:xfrm>
          <a:prstGeom prst="rect">
            <a:avLst/>
          </a:prstGeom>
        </p:spPr>
      </p:pic>
      <p:sp>
        <p:nvSpPr>
          <p:cNvPr id="22" name="Shape 10">
            <a:extLst>
              <a:ext uri="{FF2B5EF4-FFF2-40B4-BE49-F238E27FC236}">
                <a16:creationId xmlns:a16="http://schemas.microsoft.com/office/drawing/2014/main" id="{4C52BA74-A2E5-E772-0FAB-D06E42115DEF}"/>
              </a:ext>
            </a:extLst>
          </p:cNvPr>
          <p:cNvSpPr/>
          <p:nvPr/>
        </p:nvSpPr>
        <p:spPr>
          <a:xfrm>
            <a:off x="6636971" y="2447246"/>
            <a:ext cx="2358512" cy="924884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B3B7BBE4-9225-711F-FF0C-99C8F959A139}"/>
              </a:ext>
            </a:extLst>
          </p:cNvPr>
          <p:cNvSpPr/>
          <p:nvPr/>
        </p:nvSpPr>
        <p:spPr>
          <a:xfrm>
            <a:off x="6636971" y="2447246"/>
            <a:ext cx="2358512" cy="249007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CA4D02A4-7AFD-51B1-784B-41901F3BE6C4}"/>
              </a:ext>
            </a:extLst>
          </p:cNvPr>
          <p:cNvSpPr/>
          <p:nvPr/>
        </p:nvSpPr>
        <p:spPr>
          <a:xfrm>
            <a:off x="6636971" y="2447246"/>
            <a:ext cx="2358512" cy="249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thêm vào</a:t>
            </a:r>
            <a:endParaRPr lang="en-US" sz="1200" dirty="0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F3BEF664-B279-DB1B-F3C6-BF32B92233B1}"/>
              </a:ext>
            </a:extLst>
          </p:cNvPr>
          <p:cNvSpPr/>
          <p:nvPr/>
        </p:nvSpPr>
        <p:spPr>
          <a:xfrm>
            <a:off x="6636971" y="2794718"/>
            <a:ext cx="2358512" cy="626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2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params!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0178801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9916C4-60D3-F59F-2C42-A45969C28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B999DE2-3141-8AFB-AFE6-2A35D633808D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03F1940-0821-BA1F-D4F8-C75445D75E19}"/>
              </a:ext>
            </a:extLst>
          </p:cNvPr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E51199F-83FE-F9DC-A71D-DDDE8F54A542}"/>
              </a:ext>
            </a:extLst>
          </p:cNvPr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— Split ImageNet-R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67BA5A6-2F66-3CA9-DB54-40B4091BD35E}"/>
              </a:ext>
            </a:extLst>
          </p:cNvPr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DC19D02-1050-DEAF-0274-747546447322}"/>
              </a:ext>
            </a:extLst>
          </p:cNvPr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— NeurIPS 2024  |  Lưu Hải Đăng</a:t>
            </a:r>
            <a:endParaRPr lang="en-US" sz="1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42AA2DB-6E73-250F-079B-9937C3FC435C}"/>
              </a:ext>
            </a:extLst>
          </p:cNvPr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8402DA93-8C4A-3863-367A-FD8A6AFBE453}"/>
              </a:ext>
            </a:extLst>
          </p:cNvPr>
          <p:cNvSpPr/>
          <p:nvPr/>
        </p:nvSpPr>
        <p:spPr>
          <a:xfrm>
            <a:off x="6636971" y="2447246"/>
            <a:ext cx="2358512" cy="924884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DBC2C663-C1D2-342C-FF88-4164E94F0B35}"/>
              </a:ext>
            </a:extLst>
          </p:cNvPr>
          <p:cNvSpPr/>
          <p:nvPr/>
        </p:nvSpPr>
        <p:spPr>
          <a:xfrm>
            <a:off x="6636971" y="2447246"/>
            <a:ext cx="2358512" cy="249007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1D60627B-4302-32C9-9CAC-82EBE76E2A30}"/>
              </a:ext>
            </a:extLst>
          </p:cNvPr>
          <p:cNvSpPr/>
          <p:nvPr/>
        </p:nvSpPr>
        <p:spPr>
          <a:xfrm>
            <a:off x="6636971" y="2447246"/>
            <a:ext cx="2358512" cy="249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thêm vào</a:t>
            </a:r>
            <a:endParaRPr lang="en-US" sz="1200" dirty="0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3FD9AC27-0AB4-0CB1-C33D-5CA5FFA2134C}"/>
              </a:ext>
            </a:extLst>
          </p:cNvPr>
          <p:cNvSpPr/>
          <p:nvPr/>
        </p:nvSpPr>
        <p:spPr>
          <a:xfrm>
            <a:off x="6636971" y="2794718"/>
            <a:ext cx="2358512" cy="626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2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params!</a:t>
            </a:r>
            <a:endParaRPr lang="en-US" sz="1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C8EF63-DC1B-147C-4C43-419FB66B7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17" y="731521"/>
            <a:ext cx="6411579" cy="409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3366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119EA5-E574-C10A-FF70-F828FB516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E90B67D-8C79-93AD-AE52-DC1DF7E9A1D5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63AE12F-45D5-F2EC-4B04-BC22F06BCF25}"/>
              </a:ext>
            </a:extLst>
          </p:cNvPr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8343F7B-C957-8896-FF6B-E3878B619247}"/>
              </a:ext>
            </a:extLst>
          </p:cNvPr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Split CIFAR-100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backbone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DINO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E72D569-F65E-2EE4-2DF1-5555D489F043}"/>
              </a:ext>
            </a:extLst>
          </p:cNvPr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2D1BC-0DC1-8D06-754A-8B1369EA5EA8}"/>
              </a:ext>
            </a:extLst>
          </p:cNvPr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— NeurIPS 2024  |  Lưu Hải Đăng</a:t>
            </a:r>
            <a:endParaRPr lang="en-US" sz="1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366C0AE-8886-5EEF-C736-8C85AB2FC1CA}"/>
              </a:ext>
            </a:extLst>
          </p:cNvPr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2449B6B3-69CE-4A7D-79D9-743170C78CE6}"/>
              </a:ext>
            </a:extLst>
          </p:cNvPr>
          <p:cNvSpPr/>
          <p:nvPr/>
        </p:nvSpPr>
        <p:spPr>
          <a:xfrm>
            <a:off x="6636971" y="2447246"/>
            <a:ext cx="2358512" cy="924884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84DB15F0-0F36-BA1A-2BD8-EB3F59C41F08}"/>
              </a:ext>
            </a:extLst>
          </p:cNvPr>
          <p:cNvSpPr/>
          <p:nvPr/>
        </p:nvSpPr>
        <p:spPr>
          <a:xfrm>
            <a:off x="6636971" y="2447246"/>
            <a:ext cx="2358512" cy="249007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602F85F0-A012-2B63-234B-E5985A48EDEF}"/>
              </a:ext>
            </a:extLst>
          </p:cNvPr>
          <p:cNvSpPr/>
          <p:nvPr/>
        </p:nvSpPr>
        <p:spPr>
          <a:xfrm>
            <a:off x="6636971" y="2447246"/>
            <a:ext cx="2358512" cy="249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thêm vào</a:t>
            </a:r>
            <a:endParaRPr lang="en-US" sz="1200" dirty="0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D4279D40-DBDF-83E2-CCD1-CD6251DD8A14}"/>
              </a:ext>
            </a:extLst>
          </p:cNvPr>
          <p:cNvSpPr/>
          <p:nvPr/>
        </p:nvSpPr>
        <p:spPr>
          <a:xfrm>
            <a:off x="6636971" y="2794718"/>
            <a:ext cx="2358512" cy="626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2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params!</a:t>
            </a:r>
            <a:endParaRPr lang="en-US" sz="1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0BEB435-A49F-F3E6-1D07-509DA3FE2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17" y="731520"/>
            <a:ext cx="6344887" cy="4092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434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 — Vai trò của từng thành phần NoRGa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— NeurIPS 2024  |  Lưu Hải Đăng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thực hiện ablation để xác nhận từng design choice: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35331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HiDe-Prompt (Linear Gating)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212080" y="135331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92.61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63640" y="13533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không có NoRGa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1837944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189280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Thuần Non-linear (bỏ residual)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12080" y="189280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~91.5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18928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Tệ hơn! Vanishing gradient khi train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377440"/>
            <a:ext cx="8503920" cy="475488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2377440"/>
            <a:ext cx="64008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243230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với σ = tanh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212080" y="243230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94.48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243230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Tốt nhất, activation mặc định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" y="2916936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29718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với σ = sigmoid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212080" y="29718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63640" y="29718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Cũng tốt — robust với choice activation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0040" y="3456432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351129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với σ = GELU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212080" y="351129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94.35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63640" y="351129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Tốt, nhất quán với lý thuyết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0040" y="3995928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40507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và τ fixed (không học)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212080" y="405079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93.80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63640" y="40507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Kém hơn learnable version → learnable params matter!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20040" y="45720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Cả residual connection và non-linear activation đều cần thiết. Learnable α, τ giúp model tự adapt.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B25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253275"/>
          </a:solidFill>
          <a:ln w="12700">
            <a:solidFill>
              <a:srgbClr val="2532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Hạn chế &amp;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hướng Phát triển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Nhìn thẳng vào limitations và cơ hội research tiếp theo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62048"/>
          </a:solidFill>
          <a:ln w="12700">
            <a:solidFill>
              <a:srgbClr val="162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Bốn Hạn chế Chính của NoRGa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— NeurIPS 2024  |  Lưu Hải Đăng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742950"/>
            <a:ext cx="416052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742950"/>
            <a:ext cx="416052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9768" y="74295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Memory không scalable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181862"/>
            <a:ext cx="384048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pool |P| = T tăng tuyến tính theo số task. Với T &gt; 100 tasks, đây là bottleneck nghiêm trọng. Mâu thuẫn với tuyên bố 'parameter efficiency'.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27448" y="742950"/>
            <a:ext cx="416052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27448" y="742950"/>
            <a:ext cx="416052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37176" y="74295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TII vẫn là điểm yếu cố hữu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64608" y="1181862"/>
            <a:ext cx="384048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cải thiện WTP nhưng KHÔNG đụng vào TII. Nếu TII chọn sai prompt → WTP tốt cũng vô nghĩa. Kiến trúc 2-stage vốn dĩ dễ cascade failure.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708910"/>
            <a:ext cx="416052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AB30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708910"/>
            <a:ext cx="4160520" cy="38404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9768" y="270891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Khoảng cách lý thuyết ↔ thực tế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147822"/>
            <a:ext cx="384048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rate được chứng minh cho 1 head (l=1, i=1). ViT-B/16 có 12×12 = 144 heads. Không có lý thuyết cho multi-head, multi-layer interaction.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27448" y="2708910"/>
            <a:ext cx="416052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AB30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27448" y="2708910"/>
            <a:ext cx="4160520" cy="38404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37176" y="270891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Bị giam trong Vision domain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64608" y="3147822"/>
            <a:ext cx="384048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thực nghiệm trên ViT + image classification. Lý thuyết Self-Attention = MoE là architecture-agnostic nhưng chưa có bằng chứng thực nghiệm cho NLP, multimodal.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4537710"/>
            <a:ext cx="416052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455599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Cao: cần giải quyết để deploy thực tế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27448" y="4547997"/>
            <a:ext cx="4160520" cy="2926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455599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TB: quan trọng về lý thuyết, research gaps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hb">
            <a:extLst>
              <a:ext uri="{FF2B5EF4-FFF2-40B4-BE49-F238E27FC236}">
                <a16:creationId xmlns:a16="http://schemas.microsoft.com/office/drawing/2014/main" id="{B92D7985-F90A-FCBD-86D3-F18F2338FB5D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558"/>
          </a:solidFill>
        </p:spPr>
        <p:txBody>
          <a:bodyPr/>
          <a:lstStyle/>
          <a:p>
            <a:endParaRPr/>
          </a:p>
        </p:txBody>
      </p:sp>
      <p:sp>
        <p:nvSpPr>
          <p:cNvPr id="21" name="ha">
            <a:extLst>
              <a:ext uri="{FF2B5EF4-FFF2-40B4-BE49-F238E27FC236}">
                <a16:creationId xmlns:a16="http://schemas.microsoft.com/office/drawing/2014/main" id="{25E49044-AAA1-3736-CF78-283B10D5A0BB}"/>
              </a:ext>
            </a:extLst>
          </p:cNvPr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</p:spPr>
        <p:txBody>
          <a:bodyPr/>
          <a:lstStyle/>
          <a:p>
            <a:endParaRPr/>
          </a:p>
        </p:txBody>
      </p:sp>
      <p:sp>
        <p:nvSpPr>
          <p:cNvPr id="22" name="ht">
            <a:extLst>
              <a:ext uri="{FF2B5EF4-FFF2-40B4-BE49-F238E27FC236}">
                <a16:creationId xmlns:a16="http://schemas.microsoft.com/office/drawing/2014/main" id="{BE2E51E5-A9F4-7BF3-ABDA-A1945567E96E}"/>
              </a:ext>
            </a:extLst>
          </p:cNvPr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vi-VN" sz="2200" b="1" dirty="0">
                <a:solidFill>
                  <a:srgbClr val="FFFFFF"/>
                </a:solidFill>
                <a:latin typeface="Calibri"/>
              </a:rPr>
              <a:t>Định hướng 1  — Vấn đề &amp; Ý tưởng Cốt lõi</a:t>
            </a:r>
          </a:p>
        </p:txBody>
      </p:sp>
      <p:sp>
        <p:nvSpPr>
          <p:cNvPr id="23" name="fb">
            <a:extLst>
              <a:ext uri="{FF2B5EF4-FFF2-40B4-BE49-F238E27FC236}">
                <a16:creationId xmlns:a16="http://schemas.microsoft.com/office/drawing/2014/main" id="{9058FD1B-8C45-1683-8667-C5118525D8E1}"/>
              </a:ext>
            </a:extLst>
          </p:cNvPr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558"/>
          </a:solidFill>
        </p:spPr>
        <p:txBody>
          <a:bodyPr/>
          <a:lstStyle/>
          <a:p>
            <a:endParaRPr/>
          </a:p>
        </p:txBody>
      </p:sp>
      <p:sp>
        <p:nvSpPr>
          <p:cNvPr id="24" name="ft">
            <a:extLst>
              <a:ext uri="{FF2B5EF4-FFF2-40B4-BE49-F238E27FC236}">
                <a16:creationId xmlns:a16="http://schemas.microsoft.com/office/drawing/2014/main" id="{9C73524A-5498-6436-4384-568848A65081}"/>
              </a:ext>
            </a:extLst>
          </p:cNvPr>
          <p:cNvSpPr/>
          <p:nvPr/>
        </p:nvSpPr>
        <p:spPr>
          <a:xfrm>
            <a:off x="274320" y="488718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BB8FF"/>
                </a:solidFill>
                <a:latin typeface="Calibri"/>
              </a:rPr>
              <a:t>NoRGa — NeurIPS 2024  |  Lưu Hải Đăng</a:t>
            </a:r>
          </a:p>
        </p:txBody>
      </p:sp>
      <p:sp>
        <p:nvSpPr>
          <p:cNvPr id="25" name="cb7">
            <a:extLst>
              <a:ext uri="{FF2B5EF4-FFF2-40B4-BE49-F238E27FC236}">
                <a16:creationId xmlns:a16="http://schemas.microsoft.com/office/drawing/2014/main" id="{23569D30-C70D-7096-B503-62B01C053E64}"/>
              </a:ext>
            </a:extLst>
          </p:cNvPr>
          <p:cNvSpPr/>
          <p:nvPr/>
        </p:nvSpPr>
        <p:spPr>
          <a:xfrm>
            <a:off x="320040" y="719999"/>
            <a:ext cx="8503920" cy="85208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ca7">
            <a:extLst>
              <a:ext uri="{FF2B5EF4-FFF2-40B4-BE49-F238E27FC236}">
                <a16:creationId xmlns:a16="http://schemas.microsoft.com/office/drawing/2014/main" id="{9E04F20E-5D96-2546-6D89-952C185369CD}"/>
              </a:ext>
            </a:extLst>
          </p:cNvPr>
          <p:cNvSpPr/>
          <p:nvPr/>
        </p:nvSpPr>
        <p:spPr>
          <a:xfrm>
            <a:off x="320040" y="720000"/>
            <a:ext cx="45719" cy="852084"/>
          </a:xfrm>
          <a:prstGeom prst="rect">
            <a:avLst/>
          </a:prstGeom>
          <a:solidFill>
            <a:srgbClr val="EF4444"/>
          </a:solidFill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9">
                <a:extLst>
                  <a:ext uri="{FF2B5EF4-FFF2-40B4-BE49-F238E27FC236}">
                    <a16:creationId xmlns:a16="http://schemas.microsoft.com/office/drawing/2014/main" id="{3EA6BE06-99E5-C335-2109-FBE4BD1489B1}"/>
                  </a:ext>
                </a:extLst>
              </p:cNvPr>
              <p:cNvSpPr/>
              <p:nvPr/>
            </p:nvSpPr>
            <p:spPr>
              <a:xfrm>
                <a:off x="390000" y="768096"/>
                <a:ext cx="8360000" cy="803988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t"/>
              <a:lstStyle/>
              <a:p>
                <a:pPr marL="0" indent="0">
                  <a:buNone/>
                </a:pPr>
                <a:r>
                  <a:rPr lang="vi-VN" sz="1350" b="1" dirty="0">
                    <a:solidFill>
                      <a:srgbClr val="EF4444"/>
                    </a:solidFill>
                    <a:latin typeface="Calibri"/>
                  </a:rPr>
                  <a:t>❌  Vấn đề thực sự: Storage tăng tuyến tính theo số task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Prompt pool P 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,...,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}, mỗi pₜ 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sSub>
                          <m:sSubPr>
                            <m:ctrlPr>
                              <a:rPr lang="en-US" sz="1100" b="0" i="1" smtClean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1100" b="0" i="1" smtClean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1100" dirty="0">
                    <a:solidFill>
                      <a:srgbClr val="1E293B"/>
                    </a:solidFill>
                    <a:latin typeface="Calibri"/>
                    <a:ea typeface="Cambria Math" panose="02040503050406030204" pitchFamily="18" charset="0"/>
                  </a:rPr>
                  <a:t> </a:t>
                </a: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độc lập — không chia sẻ tri thức giữa các task</a:t>
                </a:r>
                <a:endParaRPr lang="en-US" sz="1100" dirty="0">
                  <a:solidFill>
                    <a:srgbClr val="1E293B"/>
                  </a:solidFill>
                  <a:latin typeface="Calibri"/>
                </a:endParaRPr>
              </a:p>
              <a:p>
                <a:pPr marL="0" indent="0">
                  <a:buNone/>
                </a:pPr>
                <a:endParaRPr lang="vi-VN" sz="1100" dirty="0">
                  <a:solidFill>
                    <a:srgbClr val="1E293B"/>
                  </a:solidFill>
                  <a:latin typeface="Calibri"/>
                </a:endParaRPr>
              </a:p>
              <a:p>
                <a:pPr marL="0" indent="0">
                  <a:buNone/>
                </a:pPr>
                <a:r>
                  <a:rPr lang="en-US" sz="1050" dirty="0" err="1">
                    <a:solidFill>
                      <a:srgbClr val="7F1D1D"/>
                    </a:solidFill>
                    <a:latin typeface="Calibri"/>
                  </a:rPr>
                  <a:t>Ví</a:t>
                </a:r>
                <a:r>
                  <a:rPr lang="en-US" sz="1050" dirty="0">
                    <a:solidFill>
                      <a:srgbClr val="7F1D1D"/>
                    </a:solidFill>
                    <a:latin typeface="Calibri"/>
                  </a:rPr>
                  <a:t> </a:t>
                </a:r>
                <a:r>
                  <a:rPr lang="en-US" sz="1050" dirty="0" err="1">
                    <a:solidFill>
                      <a:srgbClr val="7F1D1D"/>
                    </a:solidFill>
                    <a:latin typeface="Calibri"/>
                  </a:rPr>
                  <a:t>dụ</a:t>
                </a:r>
                <a:r>
                  <a:rPr lang="en-US" sz="1050" dirty="0">
                    <a:solidFill>
                      <a:srgbClr val="7F1D1D"/>
                    </a:solidFill>
                    <a:latin typeface="Calibri"/>
                  </a:rPr>
                  <a:t> </a:t>
                </a:r>
                <a:r>
                  <a:rPr lang="en-US" sz="1050" dirty="0" err="1">
                    <a:solidFill>
                      <a:srgbClr val="7F1D1D"/>
                    </a:solidFill>
                    <a:latin typeface="Calibri"/>
                  </a:rPr>
                  <a:t>với</a:t>
                </a:r>
                <a:r>
                  <a:rPr lang="en-US" sz="1050" dirty="0">
                    <a:solidFill>
                      <a:srgbClr val="7F1D1D"/>
                    </a:solidFill>
                    <a:latin typeface="Calibri"/>
                  </a:rPr>
                  <a:t> </a:t>
                </a:r>
                <a:r>
                  <a:rPr lang="vi-VN" sz="1050" dirty="0">
                    <a:solidFill>
                      <a:srgbClr val="7F1D1D"/>
                    </a:solidFill>
                    <a:latin typeface="Calibri"/>
                  </a:rPr>
                  <a:t>ViT-B/16: d=768,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b="0" i="1" smtClean="0">
                            <a:solidFill>
                              <a:srgbClr val="7F1D1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0" i="1" smtClean="0">
                            <a:solidFill>
                              <a:srgbClr val="7F1D1D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50" b="0" i="1" smtClean="0">
                            <a:solidFill>
                              <a:srgbClr val="7F1D1D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vi-VN" sz="1050" dirty="0">
                    <a:solidFill>
                      <a:srgbClr val="7F1D1D"/>
                    </a:solidFill>
                    <a:latin typeface="Calibri"/>
                  </a:rPr>
                  <a:t>=20 → mỗi task ~15K params. T=100 → 1.5M params chỉ riêng prompts ⚠</a:t>
                </a:r>
              </a:p>
            </p:txBody>
          </p:sp>
        </mc:Choice>
        <mc:Fallback xmlns="">
          <p:sp>
            <p:nvSpPr>
              <p:cNvPr id="27" name="t9">
                <a:extLst>
                  <a:ext uri="{FF2B5EF4-FFF2-40B4-BE49-F238E27FC236}">
                    <a16:creationId xmlns:a16="http://schemas.microsoft.com/office/drawing/2014/main" id="{3EA6BE06-99E5-C335-2109-FBE4BD1489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00" y="768096"/>
                <a:ext cx="8360000" cy="803988"/>
              </a:xfrm>
              <a:prstGeom prst="rect">
                <a:avLst/>
              </a:prstGeom>
              <a:blipFill>
                <a:blip r:embed="rId3"/>
                <a:stretch>
                  <a:fillRect l="-219" t="-1515" b="-454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f10">
            <a:extLst>
              <a:ext uri="{FF2B5EF4-FFF2-40B4-BE49-F238E27FC236}">
                <a16:creationId xmlns:a16="http://schemas.microsoft.com/office/drawing/2014/main" id="{21FC4B2E-AF1E-6F75-3DDA-BC551D024CEB}"/>
              </a:ext>
            </a:extLst>
          </p:cNvPr>
          <p:cNvSpPr/>
          <p:nvPr/>
        </p:nvSpPr>
        <p:spPr>
          <a:xfrm>
            <a:off x="348040" y="1655984"/>
            <a:ext cx="8503920" cy="293875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11">
                <a:extLst>
                  <a:ext uri="{FF2B5EF4-FFF2-40B4-BE49-F238E27FC236}">
                    <a16:creationId xmlns:a16="http://schemas.microsoft.com/office/drawing/2014/main" id="{AECD38E9-98FB-7AB9-2FEC-F9E07C8E3935}"/>
                  </a:ext>
                </a:extLst>
              </p:cNvPr>
              <p:cNvSpPr/>
              <p:nvPr/>
            </p:nvSpPr>
            <p:spPr>
              <a:xfrm>
                <a:off x="424980" y="1660192"/>
                <a:ext cx="8360000" cy="293875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t"/>
              <a:lstStyle/>
              <a:p>
                <a:pPr marL="0" indent="0">
                  <a:buNone/>
                </a:pPr>
                <a:r>
                  <a:rPr lang="vi-VN" sz="1150" b="1" dirty="0">
                    <a:solidFill>
                      <a:srgbClr val="1D4ED8"/>
                    </a:solidFill>
                    <a:latin typeface="Calibri"/>
                  </a:rPr>
                  <a:t>💡  Insight từ MoE View: prefix expert = điểm trong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50" b="1" i="1" smtClean="0">
                            <a:solidFill>
                              <a:srgbClr val="1D4ED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50" b="1" i="1" smtClean="0">
                            <a:solidFill>
                              <a:srgbClr val="1D4ED8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sz="1150" b="1" i="1" smtClean="0">
                            <a:solidFill>
                              <a:srgbClr val="1D4ED8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sup>
                    </m:sSup>
                  </m:oMath>
                </a14:m>
                <a:r>
                  <a:rPr lang="en-US" sz="1150" b="1" dirty="0">
                    <a:solidFill>
                      <a:srgbClr val="1D4ED8"/>
                    </a:solidFill>
                    <a:latin typeface="Calibri"/>
                  </a:rPr>
                  <a:t> </a:t>
                </a:r>
                <a:r>
                  <a:rPr lang="vi-VN" sz="1150" b="1" dirty="0">
                    <a:solidFill>
                      <a:srgbClr val="1D4ED8"/>
                    </a:solidFill>
                    <a:latin typeface="Calibri"/>
                  </a:rPr>
                  <a:t>→ tasks tương tự → experts gần nhau → có thể CHIA SẺ!</a:t>
                </a:r>
              </a:p>
            </p:txBody>
          </p:sp>
        </mc:Choice>
        <mc:Fallback xmlns="">
          <p:sp>
            <p:nvSpPr>
              <p:cNvPr id="29" name="t11">
                <a:extLst>
                  <a:ext uri="{FF2B5EF4-FFF2-40B4-BE49-F238E27FC236}">
                    <a16:creationId xmlns:a16="http://schemas.microsoft.com/office/drawing/2014/main" id="{AECD38E9-98FB-7AB9-2FEC-F9E07C8E39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980" y="1660192"/>
                <a:ext cx="8360000" cy="293875"/>
              </a:xfrm>
              <a:prstGeom prst="rect">
                <a:avLst/>
              </a:prstGeom>
              <a:blipFill>
                <a:blip r:embed="rId4"/>
                <a:stretch>
                  <a:fillRect b="-816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cb12">
            <a:extLst>
              <a:ext uri="{FF2B5EF4-FFF2-40B4-BE49-F238E27FC236}">
                <a16:creationId xmlns:a16="http://schemas.microsoft.com/office/drawing/2014/main" id="{53341342-6D0A-9D7A-1D63-AFF7D93CAEEA}"/>
              </a:ext>
            </a:extLst>
          </p:cNvPr>
          <p:cNvSpPr/>
          <p:nvPr/>
        </p:nvSpPr>
        <p:spPr>
          <a:xfrm>
            <a:off x="348040" y="2148437"/>
            <a:ext cx="4140000" cy="209100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ca12">
            <a:extLst>
              <a:ext uri="{FF2B5EF4-FFF2-40B4-BE49-F238E27FC236}">
                <a16:creationId xmlns:a16="http://schemas.microsoft.com/office/drawing/2014/main" id="{1EDFE256-AA93-6C05-53FA-E4DEFCA0E955}"/>
              </a:ext>
            </a:extLst>
          </p:cNvPr>
          <p:cNvSpPr/>
          <p:nvPr/>
        </p:nvSpPr>
        <p:spPr>
          <a:xfrm>
            <a:off x="355020" y="2148437"/>
            <a:ext cx="49020" cy="2091005"/>
          </a:xfrm>
          <a:prstGeom prst="rect">
            <a:avLst/>
          </a:prstGeom>
          <a:solidFill>
            <a:srgbClr val="EF4444"/>
          </a:solidFill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14">
                <a:extLst>
                  <a:ext uri="{FF2B5EF4-FFF2-40B4-BE49-F238E27FC236}">
                    <a16:creationId xmlns:a16="http://schemas.microsoft.com/office/drawing/2014/main" id="{7B5CA6E3-EC97-3BA5-4DB2-DC9D6E2F5683}"/>
                  </a:ext>
                </a:extLst>
              </p:cNvPr>
              <p:cNvSpPr/>
              <p:nvPr/>
            </p:nvSpPr>
            <p:spPr>
              <a:xfrm>
                <a:off x="418000" y="2148437"/>
                <a:ext cx="4020000" cy="2012956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t"/>
              <a:lstStyle/>
              <a:p>
                <a:pPr marL="0" indent="0">
                  <a:buNone/>
                </a:pPr>
                <a:r>
                  <a:rPr lang="vi-VN" sz="1300" b="1" dirty="0">
                    <a:solidFill>
                      <a:srgbClr val="EF4444"/>
                    </a:solidFill>
                    <a:latin typeface="Calibri"/>
                  </a:rPr>
                  <a:t>❌  Hiện tại — NoRGa + HiDe-Prompt</a:t>
                </a:r>
              </a:p>
              <a:p>
                <a:pPr marL="0" indent="0">
                  <a:buNone/>
                </a:pPr>
                <a:endParaRPr lang="vi-VN" sz="800" dirty="0"/>
              </a:p>
              <a:p>
                <a:pPr marL="0" indent="0">
                  <a:buNone/>
                </a:pPr>
                <a:r>
                  <a:rPr lang="vi-VN" sz="1150" b="1" dirty="0">
                    <a:solidFill>
                      <a:srgbClr val="374151"/>
                    </a:solidFill>
                    <a:latin typeface="Calibri"/>
                  </a:rPr>
                  <a:t>Lưu trữ: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P 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, ...,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}</a:t>
                </a:r>
                <a:endParaRPr lang="en-US" sz="1100" dirty="0">
                  <a:solidFill>
                    <a:srgbClr val="1E293B"/>
                  </a:solidFill>
                  <a:latin typeface="Calibri"/>
                </a:endParaRP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pₜ 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sSub>
                          <m:sSubPr>
                            <m:ctrlPr>
                              <a:rPr lang="en-US" sz="1100" b="0" i="1" smtClean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1100" b="0" i="1" smtClean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sz="110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— hoàn toàn độc lập</a:t>
                </a:r>
              </a:p>
              <a:p>
                <a:pPr marL="0" indent="0">
                  <a:buNone/>
                </a:pPr>
                <a:endParaRPr lang="vi-VN" sz="800" dirty="0"/>
              </a:p>
              <a:p>
                <a:pPr marL="0" indent="0">
                  <a:buNone/>
                </a:pPr>
                <a:r>
                  <a:rPr lang="vi-VN" sz="1150" b="1" dirty="0">
                    <a:solidFill>
                      <a:srgbClr val="374151"/>
                    </a:solidFill>
                    <a:latin typeface="Calibri"/>
                  </a:rPr>
                  <a:t>Task selection: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TII hard-select đúng 1 prompt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1100" b="0" dirty="0">
                  <a:solidFill>
                    <a:srgbClr val="1E293B"/>
                  </a:solidFill>
                  <a:latin typeface="Calibri"/>
                </a:endParaRP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7F1D1D"/>
                    </a:solidFill>
                    <a:latin typeface="Calibri"/>
                  </a:rPr>
                  <a:t>Phải lưu TẤT CẢ T prompts trong RAM</a:t>
                </a:r>
              </a:p>
              <a:p>
                <a:pPr marL="0" indent="0">
                  <a:buNone/>
                </a:pPr>
                <a:endParaRPr lang="vi-VN" sz="800" dirty="0"/>
              </a:p>
              <a:p>
                <a:pPr marL="0" indent="0">
                  <a:buNone/>
                </a:pPr>
                <a:r>
                  <a:rPr lang="vi-VN" sz="1200" b="1" dirty="0">
                    <a:solidFill>
                      <a:srgbClr val="EF4444"/>
                    </a:solidFill>
                    <a:latin typeface="Calibri"/>
                  </a:rPr>
                  <a:t>Tăng trưởng bộ nhớ: O(T)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7F1D1D"/>
                    </a:solidFill>
                    <a:latin typeface="Calibri"/>
                  </a:rPr>
                  <a:t>Linear — không thể scale!</a:t>
                </a:r>
              </a:p>
            </p:txBody>
          </p:sp>
        </mc:Choice>
        <mc:Fallback xmlns="">
          <p:sp>
            <p:nvSpPr>
              <p:cNvPr id="32" name="t14">
                <a:extLst>
                  <a:ext uri="{FF2B5EF4-FFF2-40B4-BE49-F238E27FC236}">
                    <a16:creationId xmlns:a16="http://schemas.microsoft.com/office/drawing/2014/main" id="{7B5CA6E3-EC97-3BA5-4DB2-DC9D6E2F56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000" y="2148437"/>
                <a:ext cx="4020000" cy="2012956"/>
              </a:xfrm>
              <a:prstGeom prst="rect">
                <a:avLst/>
              </a:prstGeom>
              <a:blipFill>
                <a:blip r:embed="rId5"/>
                <a:stretch>
                  <a:fillRect l="-303" t="-302" b="-271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cb15">
            <a:extLst>
              <a:ext uri="{FF2B5EF4-FFF2-40B4-BE49-F238E27FC236}">
                <a16:creationId xmlns:a16="http://schemas.microsoft.com/office/drawing/2014/main" id="{8F344D65-C5E1-5F2C-C255-19F2FD04BEFE}"/>
              </a:ext>
            </a:extLst>
          </p:cNvPr>
          <p:cNvSpPr/>
          <p:nvPr/>
        </p:nvSpPr>
        <p:spPr>
          <a:xfrm>
            <a:off x="4704980" y="2148437"/>
            <a:ext cx="4140000" cy="209100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34" name="ca15">
            <a:extLst>
              <a:ext uri="{FF2B5EF4-FFF2-40B4-BE49-F238E27FC236}">
                <a16:creationId xmlns:a16="http://schemas.microsoft.com/office/drawing/2014/main" id="{0B851070-4E61-65B7-0719-BB1DFC4B8BD3}"/>
              </a:ext>
            </a:extLst>
          </p:cNvPr>
          <p:cNvSpPr/>
          <p:nvPr/>
        </p:nvSpPr>
        <p:spPr>
          <a:xfrm>
            <a:off x="4712040" y="2148437"/>
            <a:ext cx="56000" cy="2091005"/>
          </a:xfrm>
          <a:prstGeom prst="rect">
            <a:avLst/>
          </a:prstGeom>
          <a:solidFill>
            <a:srgbClr val="059669"/>
          </a:solidFill>
        </p:spPr>
        <p:txBody>
          <a:bodyPr/>
          <a:lstStyle/>
          <a:p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17">
                <a:extLst>
                  <a:ext uri="{FF2B5EF4-FFF2-40B4-BE49-F238E27FC236}">
                    <a16:creationId xmlns:a16="http://schemas.microsoft.com/office/drawing/2014/main" id="{9BFD9701-F864-4F14-4C08-62A2B11A4B52}"/>
                  </a:ext>
                </a:extLst>
              </p:cNvPr>
              <p:cNvSpPr/>
              <p:nvPr/>
            </p:nvSpPr>
            <p:spPr>
              <a:xfrm>
                <a:off x="4782000" y="2148437"/>
                <a:ext cx="4020000" cy="1899384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t"/>
              <a:lstStyle/>
              <a:p>
                <a:pPr marL="0" indent="0">
                  <a:buNone/>
                </a:pPr>
                <a:r>
                  <a:rPr lang="vi-VN" sz="1300" b="1" dirty="0">
                    <a:solidFill>
                      <a:srgbClr val="059669"/>
                    </a:solidFill>
                    <a:latin typeface="Calibri"/>
                  </a:rPr>
                  <a:t>✅  Đề xuất — Shared Expert Bank</a:t>
                </a:r>
              </a:p>
              <a:p>
                <a:pPr marL="0" indent="0">
                  <a:buNone/>
                </a:pPr>
                <a:endParaRPr lang="vi-VN" sz="800" dirty="0"/>
              </a:p>
              <a:p>
                <a:pPr marL="0" indent="0">
                  <a:buNone/>
                </a:pPr>
                <a:r>
                  <a:rPr lang="vi-VN" sz="1150" b="1" dirty="0">
                    <a:solidFill>
                      <a:srgbClr val="374151"/>
                    </a:solidFill>
                    <a:latin typeface="Calibri"/>
                  </a:rPr>
                  <a:t>Lưu trữ: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Bank B 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,...,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},  M &lt;&lt; T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Coefficients αₜ 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</m:oMath>
                </a14:m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cho mỗi task t</a:t>
                </a:r>
              </a:p>
              <a:p>
                <a:pPr marL="0" indent="0">
                  <a:buNone/>
                </a:pPr>
                <a:endParaRPr lang="vi-VN" sz="800" dirty="0"/>
              </a:p>
              <a:p>
                <a:pPr marL="0" indent="0">
                  <a:buNone/>
                </a:pPr>
                <a:r>
                  <a:rPr lang="vi-VN" sz="1150" b="1" dirty="0">
                    <a:solidFill>
                      <a:srgbClr val="374151"/>
                    </a:solidFill>
                    <a:latin typeface="Calibri"/>
                  </a:rPr>
                  <a:t>Task reconstruction: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p̂ₜ = Σ_{m ∈ </a:t>
                </a:r>
                <a14:m>
                  <m:oMath xmlns:m="http://schemas.openxmlformats.org/officeDocument/2006/math">
                    <m:r>
                      <a:rPr lang="en-US" sz="1100" b="0" i="1" smtClean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𝑇𝑜</m:t>
                    </m:r>
                    <m:sSub>
                      <m:sSub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(αₜ)}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vi-VN" sz="1100" dirty="0">
                  <a:solidFill>
                    <a:srgbClr val="1E293B"/>
                  </a:solidFill>
                  <a:latin typeface="Calibri"/>
                </a:endParaRP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065F46"/>
                    </a:solidFill>
                    <a:latin typeface="Calibri"/>
                  </a:rPr>
                  <a:t>Chỉ k trong M experts được dùng (SPARSE)</a:t>
                </a:r>
              </a:p>
              <a:p>
                <a:pPr marL="0" indent="0">
                  <a:buNone/>
                </a:pPr>
                <a:endParaRPr lang="vi-VN" sz="800" dirty="0"/>
              </a:p>
              <a:p>
                <a:pPr marL="0" indent="0">
                  <a:buNone/>
                </a:pPr>
                <a:r>
                  <a:rPr lang="vi-VN" sz="1200" b="1" dirty="0">
                    <a:solidFill>
                      <a:srgbClr val="059669"/>
                    </a:solidFill>
                    <a:latin typeface="Calibri"/>
                  </a:rPr>
                  <a:t>Tăng trưởng bộ nhớ: O(M) + O(T·M)</a:t>
                </a:r>
              </a:p>
            </p:txBody>
          </p:sp>
        </mc:Choice>
        <mc:Fallback xmlns="">
          <p:sp>
            <p:nvSpPr>
              <p:cNvPr id="35" name="t17">
                <a:extLst>
                  <a:ext uri="{FF2B5EF4-FFF2-40B4-BE49-F238E27FC236}">
                    <a16:creationId xmlns:a16="http://schemas.microsoft.com/office/drawing/2014/main" id="{9BFD9701-F864-4F14-4C08-62A2B11A4B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2000" y="2148437"/>
                <a:ext cx="4020000" cy="1899384"/>
              </a:xfrm>
              <a:prstGeom prst="rect">
                <a:avLst/>
              </a:prstGeom>
              <a:blipFill>
                <a:blip r:embed="rId6"/>
                <a:stretch>
                  <a:fillRect l="-152" t="-321" b="-96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18">
            <a:extLst>
              <a:ext uri="{FF2B5EF4-FFF2-40B4-BE49-F238E27FC236}">
                <a16:creationId xmlns:a16="http://schemas.microsoft.com/office/drawing/2014/main" id="{BDFE0592-B6C7-AC77-6DB1-95211018E2D6}"/>
              </a:ext>
            </a:extLst>
          </p:cNvPr>
          <p:cNvSpPr/>
          <p:nvPr/>
        </p:nvSpPr>
        <p:spPr>
          <a:xfrm>
            <a:off x="348040" y="4413500"/>
            <a:ext cx="8503920" cy="419104"/>
          </a:xfrm>
          <a:prstGeom prst="rect">
            <a:avLst/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19">
            <a:extLst>
              <a:ext uri="{FF2B5EF4-FFF2-40B4-BE49-F238E27FC236}">
                <a16:creationId xmlns:a16="http://schemas.microsoft.com/office/drawing/2014/main" id="{AB52B9DD-F15C-23AB-D9A0-8F1AABD6FF7D}"/>
              </a:ext>
            </a:extLst>
          </p:cNvPr>
          <p:cNvSpPr/>
          <p:nvPr/>
        </p:nvSpPr>
        <p:spPr>
          <a:xfrm>
            <a:off x="390000" y="4427716"/>
            <a:ext cx="8360000" cy="365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vi-VN" sz="1200" b="1" dirty="0">
                <a:solidFill>
                  <a:srgbClr val="92400E"/>
                </a:solidFill>
                <a:latin typeface="Calibri"/>
              </a:rPr>
              <a:t>⚠  Top-k ở đây là TẠI CẤP TASK khi tạo prompt — không phải cấp attention head!</a:t>
            </a:r>
          </a:p>
          <a:p>
            <a:pPr marL="0" indent="0">
              <a:buNone/>
            </a:pPr>
            <a:r>
              <a:rPr lang="vi-VN" sz="1050" dirty="0">
                <a:solidFill>
                  <a:srgbClr val="1E293B"/>
                </a:solidFill>
                <a:latin typeface="Calibri"/>
              </a:rPr>
              <a:t>αₜ là vector hệ số nhỏ chọn k trong M shared experts. HOÀN TOÀN KHÁC với sparse attention routing trong MoE layers.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hb">
            <a:extLst>
              <a:ext uri="{FF2B5EF4-FFF2-40B4-BE49-F238E27FC236}">
                <a16:creationId xmlns:a16="http://schemas.microsoft.com/office/drawing/2014/main" id="{8A3D2A73-8DBF-513A-0F16-A3E0A4F0681F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558"/>
          </a:solidFill>
        </p:spPr>
        <p:txBody>
          <a:bodyPr/>
          <a:lstStyle/>
          <a:p>
            <a:endParaRPr/>
          </a:p>
        </p:txBody>
      </p:sp>
      <p:sp>
        <p:nvSpPr>
          <p:cNvPr id="40" name="ha">
            <a:extLst>
              <a:ext uri="{FF2B5EF4-FFF2-40B4-BE49-F238E27FC236}">
                <a16:creationId xmlns:a16="http://schemas.microsoft.com/office/drawing/2014/main" id="{211A9E15-73A9-AA53-503D-97EB0B7DAE26}"/>
              </a:ext>
            </a:extLst>
          </p:cNvPr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</p:spPr>
        <p:txBody>
          <a:bodyPr/>
          <a:lstStyle/>
          <a:p>
            <a:endParaRPr/>
          </a:p>
        </p:txBody>
      </p:sp>
      <p:sp>
        <p:nvSpPr>
          <p:cNvPr id="41" name="ht">
            <a:extLst>
              <a:ext uri="{FF2B5EF4-FFF2-40B4-BE49-F238E27FC236}">
                <a16:creationId xmlns:a16="http://schemas.microsoft.com/office/drawing/2014/main" id="{2E3A4D12-2A16-6ED6-4600-2591B19FFB81}"/>
              </a:ext>
            </a:extLst>
          </p:cNvPr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vi-VN" sz="2200" b="1" dirty="0">
                <a:solidFill>
                  <a:srgbClr val="FFFFFF"/>
                </a:solidFill>
                <a:latin typeface="Calibri"/>
              </a:rPr>
              <a:t>Định hướng 1  — Nền tảng Lý thuyết: Tại sao Shared Bank khả thi?</a:t>
            </a:r>
          </a:p>
        </p:txBody>
      </p:sp>
      <p:sp>
        <p:nvSpPr>
          <p:cNvPr id="42" name="fb">
            <a:extLst>
              <a:ext uri="{FF2B5EF4-FFF2-40B4-BE49-F238E27FC236}">
                <a16:creationId xmlns:a16="http://schemas.microsoft.com/office/drawing/2014/main" id="{1C2709DD-BAC5-7ED2-56FE-956DE3BA9526}"/>
              </a:ext>
            </a:extLst>
          </p:cNvPr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558"/>
          </a:solidFill>
        </p:spPr>
        <p:txBody>
          <a:bodyPr/>
          <a:lstStyle/>
          <a:p>
            <a:endParaRPr/>
          </a:p>
        </p:txBody>
      </p:sp>
      <p:sp>
        <p:nvSpPr>
          <p:cNvPr id="43" name="ft">
            <a:extLst>
              <a:ext uri="{FF2B5EF4-FFF2-40B4-BE49-F238E27FC236}">
                <a16:creationId xmlns:a16="http://schemas.microsoft.com/office/drawing/2014/main" id="{DA4167FE-7DAC-3BCE-CD0B-EEEB138093D1}"/>
              </a:ext>
            </a:extLst>
          </p:cNvPr>
          <p:cNvSpPr/>
          <p:nvPr/>
        </p:nvSpPr>
        <p:spPr>
          <a:xfrm>
            <a:off x="274320" y="488718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BB8FF"/>
                </a:solidFill>
                <a:latin typeface="Calibri"/>
              </a:rPr>
              <a:t>NoRGa — NeurIPS 2024  |  Lưu Hải Đăng</a:t>
            </a:r>
          </a:p>
        </p:txBody>
      </p:sp>
      <p:sp>
        <p:nvSpPr>
          <p:cNvPr id="44" name="cb7">
            <a:extLst>
              <a:ext uri="{FF2B5EF4-FFF2-40B4-BE49-F238E27FC236}">
                <a16:creationId xmlns:a16="http://schemas.microsoft.com/office/drawing/2014/main" id="{C2715C9E-DD11-68E6-EBC7-1E30E121EA81}"/>
              </a:ext>
            </a:extLst>
          </p:cNvPr>
          <p:cNvSpPr/>
          <p:nvPr/>
        </p:nvSpPr>
        <p:spPr>
          <a:xfrm>
            <a:off x="320040" y="734165"/>
            <a:ext cx="3960000" cy="353166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5" name="ca7">
            <a:extLst>
              <a:ext uri="{FF2B5EF4-FFF2-40B4-BE49-F238E27FC236}">
                <a16:creationId xmlns:a16="http://schemas.microsoft.com/office/drawing/2014/main" id="{E6272C50-3F1B-4E6E-830E-2801F6FB15DB}"/>
              </a:ext>
            </a:extLst>
          </p:cNvPr>
          <p:cNvSpPr/>
          <p:nvPr/>
        </p:nvSpPr>
        <p:spPr>
          <a:xfrm>
            <a:off x="320040" y="720000"/>
            <a:ext cx="45719" cy="3531669"/>
          </a:xfrm>
          <a:prstGeom prst="rect">
            <a:avLst/>
          </a:prstGeom>
          <a:solidFill>
            <a:srgbClr val="2563EB"/>
          </a:solidFill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9">
                <a:extLst>
                  <a:ext uri="{FF2B5EF4-FFF2-40B4-BE49-F238E27FC236}">
                    <a16:creationId xmlns:a16="http://schemas.microsoft.com/office/drawing/2014/main" id="{C8EFFC60-81B3-98B4-84FB-20C1998E5BCE}"/>
                  </a:ext>
                </a:extLst>
              </p:cNvPr>
              <p:cNvSpPr/>
              <p:nvPr/>
            </p:nvSpPr>
            <p:spPr>
              <a:xfrm>
                <a:off x="390000" y="760000"/>
                <a:ext cx="3840000" cy="3640000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t"/>
              <a:lstStyle/>
              <a:p>
                <a:pPr marL="0" indent="0">
                  <a:buNone/>
                </a:pPr>
                <a:r>
                  <a:rPr lang="vi-VN" sz="1300" b="1" dirty="0">
                    <a:solidFill>
                      <a:srgbClr val="2563EB"/>
                    </a:solidFill>
                    <a:latin typeface="Calibri"/>
                  </a:rPr>
                  <a:t>Từ Proposition 3.1 của bài báo:</a:t>
                </a:r>
              </a:p>
              <a:p>
                <a:pPr marL="0" indent="0">
                  <a:buNone/>
                </a:pPr>
                <a:endParaRPr lang="vi-VN" sz="800" dirty="0"/>
              </a:p>
              <a:p>
                <a:pPr marL="0" indent="0">
                  <a:buNone/>
                </a:pPr>
                <a:r>
                  <a:rPr lang="vi-VN" sz="1150" b="1" dirty="0">
                    <a:solidFill>
                      <a:srgbClr val="374151"/>
                    </a:solidFill>
                    <a:latin typeface="Calibri"/>
                  </a:rPr>
                  <a:t>Mỗi prefix expert được định nghĩa:</a:t>
                </a:r>
              </a:p>
              <a:p>
                <a:pPr marL="0" indent="0">
                  <a:buNone/>
                </a:pPr>
                <a:endParaRPr lang="en-US" sz="800" dirty="0"/>
              </a:p>
              <a:p>
                <a:pPr marL="0" indent="0">
                  <a:buNone/>
                </a:pPr>
                <a:endParaRPr lang="en-US" sz="800" dirty="0"/>
              </a:p>
              <a:p>
                <a:pPr marL="0" indent="0">
                  <a:buNone/>
                </a:pPr>
                <a:endParaRPr lang="vi-VN" sz="800" dirty="0"/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→ Expert chính là 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100" b="0" i="1" smtClean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100" b="0" i="1" smtClean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p>
                  </m:oMath>
                </a14:m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sz="1100" b="0" i="0" smtClean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100" b="0" dirty="0">
                  <a:solidFill>
                    <a:srgbClr val="1E293B"/>
                  </a:solidFill>
                  <a:latin typeface="Calibri"/>
                </a:endParaRP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chiếu qua value matrix</a:t>
                </a:r>
                <a:r>
                  <a:rPr lang="en-US" sz="1100" dirty="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100" b="0" i="1" smtClean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100" b="0" i="1" smtClean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  <m:sup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p>
                  </m:oMath>
                </a14:m>
                <a:endParaRPr lang="en-US" sz="1100" b="0" dirty="0">
                  <a:solidFill>
                    <a:srgbClr val="1E293B"/>
                  </a:solidFill>
                  <a:latin typeface="Calibri"/>
                </a:endParaRPr>
              </a:p>
              <a:p>
                <a:pPr marL="0" indent="0">
                  <a:buNone/>
                </a:pPr>
                <a:endParaRPr lang="vi-VN" sz="800" dirty="0"/>
              </a:p>
              <a:p>
                <a:pPr marL="0" indent="0">
                  <a:buNone/>
                </a:pPr>
                <a:r>
                  <a:rPr lang="vi-VN" sz="1150" b="1" dirty="0">
                    <a:solidFill>
                      <a:srgbClr val="374151"/>
                    </a:solidFill>
                    <a:latin typeface="Calibri"/>
                  </a:rPr>
                  <a:t>Hệ quả: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Task A và Task B có semantic structure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tương tự → experts gần nhau trong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:</a:t>
                </a:r>
              </a:p>
              <a:p>
                <a:pPr marL="0" indent="0">
                  <a:buNone/>
                </a:pPr>
                <a:endParaRPr lang="vi-VN" sz="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250" b="1" i="1" smtClean="0">
                            <a:solidFill>
                              <a:srgbClr val="1D4ED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250" b="1" i="1" smtClean="0">
                                <a:solidFill>
                                  <a:srgbClr val="1D4ED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50" b="1" i="1" smtClean="0">
                                <a:solidFill>
                                  <a:srgbClr val="1D4ED8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1250" b="1" i="1" smtClean="0">
                                <a:solidFill>
                                  <a:srgbClr val="1D4ED8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sub>
                        </m:sSub>
                      </m:e>
                      <m:sup>
                        <m:r>
                          <a:rPr lang="en-US" sz="1250" b="1" i="1" smtClean="0">
                            <a:solidFill>
                              <a:srgbClr val="1D4ED8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sup>
                    </m:sSup>
                  </m:oMath>
                </a14:m>
                <a:r>
                  <a:rPr lang="vi-VN" sz="1250" b="1" dirty="0">
                    <a:solidFill>
                      <a:srgbClr val="1D4ED8"/>
                    </a:solidFill>
                    <a:latin typeface="Calibri"/>
                  </a:rPr>
                  <a:t>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50" b="1" i="1" smtClean="0">
                            <a:solidFill>
                              <a:srgbClr val="1D4ED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250" b="1" i="1" smtClean="0">
                                <a:solidFill>
                                  <a:srgbClr val="1D4ED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50" b="1" i="1" smtClean="0">
                                <a:solidFill>
                                  <a:srgbClr val="1D4ED8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1250" b="1" i="1" smtClean="0">
                                <a:solidFill>
                                  <a:srgbClr val="1D4ED8"/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sub>
                        </m:sSub>
                      </m:e>
                      <m:sup>
                        <m:r>
                          <a:rPr lang="en-US" sz="1250" b="1" i="1" smtClean="0">
                            <a:solidFill>
                              <a:srgbClr val="1D4ED8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sup>
                    </m:sSup>
                  </m:oMath>
                </a14:m>
                <a:r>
                  <a:rPr lang="en-US" sz="1250" b="1" dirty="0">
                    <a:solidFill>
                      <a:srgbClr val="1D4ED8"/>
                    </a:solidFill>
                    <a:latin typeface="Calibri"/>
                  </a:rPr>
                  <a:t> </a:t>
                </a:r>
                <a:r>
                  <a:rPr lang="vi-VN" sz="1250" b="1" dirty="0">
                    <a:solidFill>
                      <a:srgbClr val="1D4ED8"/>
                    </a:solidFill>
                    <a:latin typeface="Calibri"/>
                  </a:rPr>
                  <a:t>trong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50" b="1" i="1" smtClean="0">
                            <a:solidFill>
                              <a:srgbClr val="1D4ED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50" b="1" i="1" smtClean="0">
                            <a:solidFill>
                              <a:srgbClr val="1D4ED8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sz="1250" b="1" i="1" smtClean="0">
                            <a:solidFill>
                              <a:srgbClr val="1D4ED8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sup>
                    </m:sSup>
                  </m:oMath>
                </a14:m>
                <a:endParaRPr lang="vi-VN" sz="1250" b="1" dirty="0">
                  <a:solidFill>
                    <a:srgbClr val="1D4ED8"/>
                  </a:solidFill>
                  <a:latin typeface="Calibri"/>
                </a:endParaRP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7F1D1D"/>
                    </a:solidFill>
                    <a:latin typeface="Calibri"/>
                  </a:rPr>
                  <a:t>→ Lưu hai lần là LÃNG PHÍ!</a:t>
                </a:r>
              </a:p>
              <a:p>
                <a:pPr marL="0" indent="0">
                  <a:buNone/>
                </a:pPr>
                <a:endParaRPr lang="vi-VN" sz="800" dirty="0"/>
              </a:p>
              <a:p>
                <a:pPr marL="0" indent="0">
                  <a:buNone/>
                </a:pPr>
                <a:r>
                  <a:rPr lang="vi-VN" sz="1150" b="1" dirty="0">
                    <a:solidFill>
                      <a:srgbClr val="374151"/>
                    </a:solidFill>
                    <a:latin typeface="Calibri"/>
                  </a:rPr>
                  <a:t>Shared Bank khai thác điều này: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cosine_sim(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100" b="0" i="1" smtClean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100" b="0" i="1" smtClean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100" b="0" i="1" smtClean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p>
                  </m:oMath>
                </a14:m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100" b="0" i="1" smtClean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100" b="0" i="1" smtClean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100" b="0" i="1" smtClean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p>
                  </m:oMath>
                </a14:m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) &gt; φ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065F46"/>
                    </a:solidFill>
                    <a:latin typeface="Calibri"/>
                  </a:rPr>
                  <a:t>→ merge thành 1 shared expert eₘ</a:t>
                </a:r>
              </a:p>
            </p:txBody>
          </p:sp>
        </mc:Choice>
        <mc:Fallback xmlns="">
          <p:sp>
            <p:nvSpPr>
              <p:cNvPr id="46" name="t9">
                <a:extLst>
                  <a:ext uri="{FF2B5EF4-FFF2-40B4-BE49-F238E27FC236}">
                    <a16:creationId xmlns:a16="http://schemas.microsoft.com/office/drawing/2014/main" id="{C8EFFC60-81B3-98B4-84FB-20C1998E5B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00" y="760000"/>
                <a:ext cx="3840000" cy="3640000"/>
              </a:xfrm>
              <a:prstGeom prst="rect">
                <a:avLst/>
              </a:prstGeom>
              <a:blipFill>
                <a:blip r:embed="rId2"/>
                <a:stretch>
                  <a:fillRect l="-317" t="-16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cb10">
            <a:extLst>
              <a:ext uri="{FF2B5EF4-FFF2-40B4-BE49-F238E27FC236}">
                <a16:creationId xmlns:a16="http://schemas.microsoft.com/office/drawing/2014/main" id="{B9633814-B8E9-B707-BB2F-7760BA61E1BB}"/>
              </a:ext>
            </a:extLst>
          </p:cNvPr>
          <p:cNvSpPr/>
          <p:nvPr/>
        </p:nvSpPr>
        <p:spPr>
          <a:xfrm>
            <a:off x="4480040" y="719999"/>
            <a:ext cx="4343960" cy="21076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8" name="ca10">
            <a:extLst>
              <a:ext uri="{FF2B5EF4-FFF2-40B4-BE49-F238E27FC236}">
                <a16:creationId xmlns:a16="http://schemas.microsoft.com/office/drawing/2014/main" id="{37D4F621-B97A-80D1-15F3-7B3391BE444D}"/>
              </a:ext>
            </a:extLst>
          </p:cNvPr>
          <p:cNvSpPr/>
          <p:nvPr/>
        </p:nvSpPr>
        <p:spPr>
          <a:xfrm>
            <a:off x="4480040" y="719999"/>
            <a:ext cx="45719" cy="2107651"/>
          </a:xfrm>
          <a:prstGeom prst="rect">
            <a:avLst/>
          </a:prstGeom>
          <a:solidFill>
            <a:srgbClr val="0EA5E9"/>
          </a:solidFill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12">
                <a:extLst>
                  <a:ext uri="{FF2B5EF4-FFF2-40B4-BE49-F238E27FC236}">
                    <a16:creationId xmlns:a16="http://schemas.microsoft.com/office/drawing/2014/main" id="{CC56D9FB-922B-6638-206B-3FE7191F30F1}"/>
                  </a:ext>
                </a:extLst>
              </p:cNvPr>
              <p:cNvSpPr/>
              <p:nvPr/>
            </p:nvSpPr>
            <p:spPr>
              <a:xfrm>
                <a:off x="4550000" y="760000"/>
                <a:ext cx="4220000" cy="2067650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t"/>
              <a:lstStyle/>
              <a:p>
                <a:pPr marL="0" indent="0">
                  <a:buNone/>
                </a:pPr>
                <a:r>
                  <a:rPr lang="vi-VN" sz="1300" b="1" dirty="0">
                    <a:solidFill>
                      <a:srgbClr val="0EA5E9"/>
                    </a:solidFill>
                    <a:latin typeface="Calibri"/>
                  </a:rPr>
                  <a:t>Định nghĩa Shared Bank:</a:t>
                </a:r>
              </a:p>
              <a:p>
                <a:pPr marL="0" indent="0">
                  <a:buNone/>
                </a:pPr>
                <a:endParaRPr lang="vi-VN" sz="800" dirty="0"/>
              </a:p>
              <a:p>
                <a:r>
                  <a:rPr lang="vi-VN" sz="1150" dirty="0">
                    <a:solidFill>
                      <a:srgbClr val="1E293B"/>
                    </a:solidFill>
                    <a:latin typeface="Calibri"/>
                  </a:rPr>
                  <a:t>Bank B 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1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vi-VN" sz="1150" dirty="0">
                    <a:solidFill>
                      <a:srgbClr val="1E293B"/>
                    </a:solidFill>
                    <a:latin typeface="Calibri"/>
                  </a:rPr>
                  <a:t>,...,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1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vi-VN" sz="1150" dirty="0">
                    <a:solidFill>
                      <a:srgbClr val="1E293B"/>
                    </a:solidFill>
                    <a:latin typeface="Calibri"/>
                  </a:rPr>
                  <a:t>} ⊂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sSub>
                          <m:sSubPr>
                            <m:ctrlPr>
                              <a:rPr lang="en-US" sz="1100" i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1100" i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sz="110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110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sz="1100" i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100" dirty="0">
                  <a:solidFill>
                    <a:srgbClr val="1E293B"/>
                  </a:solidFill>
                  <a:latin typeface="Calibri"/>
                </a:endParaRPr>
              </a:p>
              <a:p>
                <a:r>
                  <a:rPr lang="vi-VN" sz="1100" dirty="0">
                    <a:solidFill>
                      <a:srgbClr val="374151"/>
                    </a:solidFill>
                    <a:latin typeface="Calibri"/>
                  </a:rPr>
                  <a:t>M &lt;&lt; T  (ví dụ M</a:t>
                </a:r>
                <a:r>
                  <a:rPr lang="en-US" sz="1100" dirty="0">
                    <a:solidFill>
                      <a:srgbClr val="374151"/>
                    </a:solidFill>
                    <a:latin typeface="Calibri"/>
                  </a:rPr>
                  <a:t> </a:t>
                </a:r>
                <a:r>
                  <a:rPr lang="vi-VN" sz="1100" dirty="0">
                    <a:solidFill>
                      <a:srgbClr val="374151"/>
                    </a:solidFill>
                    <a:latin typeface="Calibri"/>
                  </a:rPr>
                  <a:t>=</a:t>
                </a:r>
                <a:r>
                  <a:rPr lang="en-US" sz="1100" dirty="0">
                    <a:solidFill>
                      <a:srgbClr val="374151"/>
                    </a:solidFill>
                    <a:latin typeface="Calibri"/>
                  </a:rPr>
                  <a:t> </a:t>
                </a:r>
                <a:r>
                  <a:rPr lang="vi-VN" sz="1100" dirty="0">
                    <a:solidFill>
                      <a:srgbClr val="374151"/>
                    </a:solidFill>
                    <a:latin typeface="Calibri"/>
                  </a:rPr>
                  <a:t>20, T</a:t>
                </a:r>
                <a:r>
                  <a:rPr lang="en-US" sz="1100" dirty="0">
                    <a:solidFill>
                      <a:srgbClr val="374151"/>
                    </a:solidFill>
                    <a:latin typeface="Calibri"/>
                  </a:rPr>
                  <a:t> </a:t>
                </a:r>
                <a:r>
                  <a:rPr lang="vi-VN" sz="1100" dirty="0">
                    <a:solidFill>
                      <a:srgbClr val="374151"/>
                    </a:solidFill>
                    <a:latin typeface="Calibri"/>
                  </a:rPr>
                  <a:t>=</a:t>
                </a:r>
                <a:r>
                  <a:rPr lang="en-US" sz="1100" dirty="0">
                    <a:solidFill>
                      <a:srgbClr val="374151"/>
                    </a:solidFill>
                    <a:latin typeface="Calibri"/>
                  </a:rPr>
                  <a:t> </a:t>
                </a:r>
                <a:r>
                  <a:rPr lang="vi-VN" sz="1100" dirty="0">
                    <a:solidFill>
                      <a:srgbClr val="374151"/>
                    </a:solidFill>
                    <a:latin typeface="Calibri"/>
                  </a:rPr>
                  <a:t>100)</a:t>
                </a:r>
              </a:p>
              <a:p>
                <a:pPr marL="0" indent="0">
                  <a:buNone/>
                </a:pPr>
                <a:endParaRPr lang="vi-VN" sz="800" dirty="0"/>
              </a:p>
              <a:p>
                <a:pPr marL="0" indent="0">
                  <a:buNone/>
                </a:pPr>
                <a:r>
                  <a:rPr lang="vi-VN" sz="1150" b="1" dirty="0">
                    <a:solidFill>
                      <a:srgbClr val="374151"/>
                    </a:solidFill>
                    <a:latin typeface="Calibri"/>
                  </a:rPr>
                  <a:t>Coefficient vector mỗi task: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αₜ 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</m:oMath>
                </a14:m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,  ||αₜ||₀ = k  (k</a:t>
                </a:r>
                <a:r>
                  <a:rPr lang="en-US" sz="1100" dirty="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=</a:t>
                </a:r>
                <a:r>
                  <a:rPr lang="en-US" sz="1100" dirty="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2 hoặc 3)</a:t>
                </a:r>
              </a:p>
              <a:p>
                <a:pPr marL="0" indent="0">
                  <a:buNone/>
                </a:pPr>
                <a:r>
                  <a:rPr lang="vi-VN" sz="1050" dirty="0">
                    <a:solidFill>
                      <a:srgbClr val="374151"/>
                    </a:solidFill>
                    <a:latin typeface="Calibri"/>
                  </a:rPr>
                  <a:t>(chỉ k phần tử khác 0 — sparse)</a:t>
                </a:r>
              </a:p>
              <a:p>
                <a:pPr marL="0" indent="0">
                  <a:buNone/>
                </a:pPr>
                <a:endParaRPr lang="vi-VN" sz="800" dirty="0"/>
              </a:p>
              <a:p>
                <a:pPr marL="0" indent="0">
                  <a:buNone/>
                </a:pPr>
                <a:r>
                  <a:rPr lang="vi-VN" sz="1150" b="1" dirty="0">
                    <a:solidFill>
                      <a:srgbClr val="374151"/>
                    </a:solidFill>
                    <a:latin typeface="Calibri"/>
                  </a:rPr>
                  <a:t>Prompt reconstruction:</a:t>
                </a:r>
              </a:p>
              <a:p>
                <a:pPr marL="0" indent="0">
                  <a:buNone/>
                </a:pPr>
                <a:r>
                  <a:rPr lang="vi-VN" sz="1200" dirty="0">
                    <a:solidFill>
                      <a:srgbClr val="0C4A6E"/>
                    </a:solidFill>
                    <a:latin typeface="Calibri"/>
                  </a:rPr>
                  <a:t>p̂ₜ = Σ_{m: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rgbClr val="0C4A6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0C4A6E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0C4A6E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b="0" i="1" smtClean="0">
                            <a:solidFill>
                              <a:srgbClr val="0C4A6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solidFill>
                              <a:srgbClr val="0C4A6E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1200" b="0" i="0" smtClean="0">
                        <a:solidFill>
                          <a:srgbClr val="0C4A6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vi-VN" sz="1200" dirty="0">
                    <a:solidFill>
                      <a:srgbClr val="0C4A6E"/>
                    </a:solidFill>
                    <a:latin typeface="Calibri"/>
                  </a:rPr>
                  <a:t>≠ 0}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rgbClr val="0C4A6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0C4A6E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0C4A6E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b="0" i="1" smtClean="0">
                            <a:solidFill>
                              <a:srgbClr val="0C4A6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solidFill>
                              <a:srgbClr val="0C4A6E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vi-VN" sz="1200" dirty="0">
                    <a:solidFill>
                      <a:srgbClr val="0C4A6E"/>
                    </a:solidFill>
                    <a:latin typeface="Calibri"/>
                  </a:rPr>
                  <a:t>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rgbClr val="0C4A6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0C4A6E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0C4A6E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sz="1200" b="0" dirty="0">
                  <a:solidFill>
                    <a:srgbClr val="0C4A6E"/>
                  </a:solidFill>
                  <a:latin typeface="Calibri"/>
                </a:endParaRPr>
              </a:p>
              <a:p>
                <a:pPr marL="0" indent="0">
                  <a:buNone/>
                </a:pPr>
                <a:endParaRPr lang="vi-VN" sz="1200" dirty="0">
                  <a:solidFill>
                    <a:srgbClr val="0C4A6E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49" name="t12">
                <a:extLst>
                  <a:ext uri="{FF2B5EF4-FFF2-40B4-BE49-F238E27FC236}">
                    <a16:creationId xmlns:a16="http://schemas.microsoft.com/office/drawing/2014/main" id="{CC56D9FB-922B-6638-206B-3FE7191F30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0000" y="760000"/>
                <a:ext cx="4220000" cy="2067650"/>
              </a:xfrm>
              <a:prstGeom prst="rect">
                <a:avLst/>
              </a:prstGeom>
              <a:blipFill>
                <a:blip r:embed="rId3"/>
                <a:stretch>
                  <a:fillRect l="-144" t="-29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cb13">
            <a:extLst>
              <a:ext uri="{FF2B5EF4-FFF2-40B4-BE49-F238E27FC236}">
                <a16:creationId xmlns:a16="http://schemas.microsoft.com/office/drawing/2014/main" id="{BAE4832D-F955-60E0-13A1-214AFC7FEC2D}"/>
              </a:ext>
            </a:extLst>
          </p:cNvPr>
          <p:cNvSpPr/>
          <p:nvPr/>
        </p:nvSpPr>
        <p:spPr>
          <a:xfrm>
            <a:off x="4480040" y="3025834"/>
            <a:ext cx="4343960" cy="12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1" name="ca13">
            <a:extLst>
              <a:ext uri="{FF2B5EF4-FFF2-40B4-BE49-F238E27FC236}">
                <a16:creationId xmlns:a16="http://schemas.microsoft.com/office/drawing/2014/main" id="{9882557D-934A-64DF-7AB8-C926535D5935}"/>
              </a:ext>
            </a:extLst>
          </p:cNvPr>
          <p:cNvSpPr/>
          <p:nvPr/>
        </p:nvSpPr>
        <p:spPr>
          <a:xfrm>
            <a:off x="4480040" y="3025834"/>
            <a:ext cx="56000" cy="1240000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15">
                <a:extLst>
                  <a:ext uri="{FF2B5EF4-FFF2-40B4-BE49-F238E27FC236}">
                    <a16:creationId xmlns:a16="http://schemas.microsoft.com/office/drawing/2014/main" id="{001E8225-D3BF-6BFC-2818-93E228CD457F}"/>
                  </a:ext>
                </a:extLst>
              </p:cNvPr>
              <p:cNvSpPr/>
              <p:nvPr/>
            </p:nvSpPr>
            <p:spPr>
              <a:xfrm>
                <a:off x="4550000" y="3065834"/>
                <a:ext cx="4220000" cy="1160000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t"/>
              <a:lstStyle/>
              <a:p>
                <a:pPr marL="0" indent="0">
                  <a:buNone/>
                </a:pPr>
                <a:r>
                  <a:rPr lang="vi-VN" sz="1250" b="1" dirty="0">
                    <a:solidFill>
                      <a:srgbClr val="92400E"/>
                    </a:solidFill>
                    <a:latin typeface="Calibri"/>
                  </a:rPr>
                  <a:t>So sánh bộ nhớ (M=20, T=100):</a:t>
                </a:r>
              </a:p>
              <a:p>
                <a:pPr marL="0" indent="0">
                  <a:buNone/>
                </a:pPr>
                <a:endParaRPr lang="vi-VN" sz="800" dirty="0"/>
              </a:p>
              <a:p>
                <a:pPr marL="0" indent="0">
                  <a:buNone/>
                </a:pPr>
                <a:r>
                  <a:rPr lang="vi-VN" sz="1050" dirty="0">
                    <a:solidFill>
                      <a:srgbClr val="1E293B"/>
                    </a:solidFill>
                    <a:latin typeface="Calibri"/>
                  </a:rPr>
                  <a:t>NoRGa gốc:  T×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vi-VN" sz="1050" dirty="0">
                    <a:solidFill>
                      <a:srgbClr val="1E293B"/>
                    </a:solidFill>
                    <a:latin typeface="Calibri"/>
                  </a:rPr>
                  <a:t>×d = 100×20×768 = 1,536,000 params</a:t>
                </a:r>
              </a:p>
              <a:p>
                <a:pPr marL="0" indent="0">
                  <a:buNone/>
                </a:pPr>
                <a:r>
                  <a:rPr lang="vi-VN" sz="1050" dirty="0">
                    <a:solidFill>
                      <a:srgbClr val="1E293B"/>
                    </a:solidFill>
                    <a:latin typeface="Calibri"/>
                  </a:rPr>
                  <a:t>Đề xuất:    M×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vi-VN" sz="1050" dirty="0">
                    <a:solidFill>
                      <a:srgbClr val="1E293B"/>
                    </a:solidFill>
                    <a:latin typeface="Calibri"/>
                  </a:rPr>
                  <a:t>×d + T×M ≈ 309,200 params</a:t>
                </a:r>
              </a:p>
              <a:p>
                <a:pPr marL="0" indent="0">
                  <a:buNone/>
                </a:pPr>
                <a:endParaRPr lang="vi-VN" sz="800" dirty="0"/>
              </a:p>
              <a:p>
                <a:pPr marL="0" indent="0">
                  <a:buNone/>
                </a:pPr>
                <a:r>
                  <a:rPr lang="vi-VN" sz="1300" b="1" dirty="0">
                    <a:solidFill>
                      <a:srgbClr val="065F46"/>
                    </a:solidFill>
                    <a:latin typeface="Calibri"/>
                  </a:rPr>
                  <a:t>→ Tiết kiệm ~5×  ✅</a:t>
                </a:r>
              </a:p>
            </p:txBody>
          </p:sp>
        </mc:Choice>
        <mc:Fallback xmlns="">
          <p:sp>
            <p:nvSpPr>
              <p:cNvPr id="52" name="t15">
                <a:extLst>
                  <a:ext uri="{FF2B5EF4-FFF2-40B4-BE49-F238E27FC236}">
                    <a16:creationId xmlns:a16="http://schemas.microsoft.com/office/drawing/2014/main" id="{001E8225-D3BF-6BFC-2818-93E228CD45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0000" y="3065834"/>
                <a:ext cx="4220000" cy="1160000"/>
              </a:xfrm>
              <a:prstGeom prst="rect">
                <a:avLst/>
              </a:prstGeom>
              <a:blipFill>
                <a:blip r:embed="rId4"/>
                <a:stretch>
                  <a:fillRect l="-144" t="-52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f16">
            <a:extLst>
              <a:ext uri="{FF2B5EF4-FFF2-40B4-BE49-F238E27FC236}">
                <a16:creationId xmlns:a16="http://schemas.microsoft.com/office/drawing/2014/main" id="{F4EECC37-4CA9-FE5A-2666-E5A7269DAD4E}"/>
              </a:ext>
            </a:extLst>
          </p:cNvPr>
          <p:cNvSpPr/>
          <p:nvPr/>
        </p:nvSpPr>
        <p:spPr>
          <a:xfrm>
            <a:off x="320040" y="4503424"/>
            <a:ext cx="8503920" cy="26000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17">
                <a:extLst>
                  <a:ext uri="{FF2B5EF4-FFF2-40B4-BE49-F238E27FC236}">
                    <a16:creationId xmlns:a16="http://schemas.microsoft.com/office/drawing/2014/main" id="{840EFB37-CAFF-D2B8-0DDB-3B2E9F7C741D}"/>
                  </a:ext>
                </a:extLst>
              </p:cNvPr>
              <p:cNvSpPr/>
              <p:nvPr/>
            </p:nvSpPr>
            <p:spPr>
              <a:xfrm>
                <a:off x="390000" y="4508424"/>
                <a:ext cx="8360000" cy="248000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t"/>
              <a:lstStyle/>
              <a:p>
                <a:pPr marL="0" indent="0">
                  <a:buNone/>
                </a:pPr>
                <a:r>
                  <a:rPr lang="vi-VN" sz="1100" b="1" dirty="0">
                    <a:solidFill>
                      <a:srgbClr val="1D4ED8"/>
                    </a:solidFill>
                    <a:latin typeface="Calibri"/>
                  </a:rPr>
                  <a:t>⭐  Kết nối Theorem 4.1: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1" smtClean="0">
                            <a:solidFill>
                              <a:srgbClr val="1D4ED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1" smtClean="0">
                            <a:solidFill>
                              <a:srgbClr val="1D4ED8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sz="1100" b="1" i="1" smtClean="0">
                            <a:solidFill>
                              <a:srgbClr val="1D4ED8"/>
                            </a:solidFill>
                            <a:latin typeface="Cambria Math" panose="02040503050406030204" pitchFamily="18" charset="0"/>
                          </a:rPr>
                          <m:t>𝒆𝒇𝒇</m:t>
                        </m:r>
                      </m:sub>
                    </m:sSub>
                  </m:oMath>
                </a14:m>
                <a:r>
                  <a:rPr lang="vi-VN" sz="1100" b="1" dirty="0">
                    <a:solidFill>
                      <a:srgbClr val="1D4ED8"/>
                    </a:solidFill>
                    <a:latin typeface="Calibri"/>
                  </a:rPr>
                  <a:t>(eₘ) = Σ_{t: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1" smtClean="0">
                            <a:solidFill>
                              <a:srgbClr val="1D4ED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1" smtClean="0">
                            <a:solidFill>
                              <a:srgbClr val="1D4ED8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1100" b="1" i="1" smtClean="0">
                            <a:solidFill>
                              <a:srgbClr val="1D4ED8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sz="1100" b="1" i="1" smtClean="0">
                            <a:solidFill>
                              <a:srgbClr val="1D4ED8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100" b="1" i="1" smtClean="0">
                            <a:solidFill>
                              <a:srgbClr val="1D4ED8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vi-VN" sz="1100" b="1" dirty="0">
                    <a:solidFill>
                      <a:srgbClr val="1D4ED8"/>
                    </a:solidFill>
                    <a:latin typeface="Calibri"/>
                  </a:rPr>
                  <a:t>&gt;0} Nₜ &gt;&gt; N_task → convergence rate O(√logn/n) cải thiện theo đúng bound của paper!</a:t>
                </a:r>
              </a:p>
            </p:txBody>
          </p:sp>
        </mc:Choice>
        <mc:Fallback xmlns="">
          <p:sp>
            <p:nvSpPr>
              <p:cNvPr id="54" name="t17">
                <a:extLst>
                  <a:ext uri="{FF2B5EF4-FFF2-40B4-BE49-F238E27FC236}">
                    <a16:creationId xmlns:a16="http://schemas.microsoft.com/office/drawing/2014/main" id="{840EFB37-CAFF-D2B8-0DDB-3B2E9F7C74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00" y="4508424"/>
                <a:ext cx="8360000" cy="248000"/>
              </a:xfrm>
              <a:prstGeom prst="rect">
                <a:avLst/>
              </a:prstGeom>
              <a:blipFill>
                <a:blip r:embed="rId5"/>
                <a:stretch>
                  <a:fillRect t="-2500" b="-2500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5" name="Picture 54">
            <a:extLst>
              <a:ext uri="{FF2B5EF4-FFF2-40B4-BE49-F238E27FC236}">
                <a16:creationId xmlns:a16="http://schemas.microsoft.com/office/drawing/2014/main" id="{C2A3C4A9-65B0-24A9-13D1-4F997A9C33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367" y="1373370"/>
            <a:ext cx="1091134" cy="22666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b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558"/>
          </a:solidFill>
        </p:spPr>
        <p:txBody>
          <a:bodyPr/>
          <a:lstStyle/>
          <a:p>
            <a:endParaRPr/>
          </a:p>
        </p:txBody>
      </p:sp>
      <p:sp>
        <p:nvSpPr>
          <p:cNvPr id="3" name="ha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</p:spPr>
        <p:txBody>
          <a:bodyPr/>
          <a:lstStyle/>
          <a:p>
            <a:endParaRPr/>
          </a:p>
        </p:txBody>
      </p:sp>
      <p:sp>
        <p:nvSpPr>
          <p:cNvPr id="4" name="ht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vi-VN" sz="2200" b="1" dirty="0">
                <a:solidFill>
                  <a:srgbClr val="FFFFFF"/>
                </a:solidFill>
                <a:latin typeface="Calibri"/>
              </a:rPr>
              <a:t>Định hướng 1  — Pipeline đầy đủ: 3 Giai đoạn Học</a:t>
            </a:r>
          </a:p>
        </p:txBody>
      </p:sp>
      <p:sp>
        <p:nvSpPr>
          <p:cNvPr id="5" name="fb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558"/>
          </a:solidFill>
        </p:spPr>
        <p:txBody>
          <a:bodyPr/>
          <a:lstStyle/>
          <a:p>
            <a:endParaRPr/>
          </a:p>
        </p:txBody>
      </p:sp>
      <p:sp>
        <p:nvSpPr>
          <p:cNvPr id="6" name="ft"/>
          <p:cNvSpPr/>
          <p:nvPr/>
        </p:nvSpPr>
        <p:spPr>
          <a:xfrm>
            <a:off x="274320" y="488718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BB8FF"/>
                </a:solidFill>
                <a:latin typeface="Calibri"/>
              </a:rPr>
              <a:t>NoRGa — NeurIPS 2024  |  Lưu Hải Đăng</a:t>
            </a:r>
          </a:p>
        </p:txBody>
      </p:sp>
      <p:sp>
        <p:nvSpPr>
          <p:cNvPr id="7" name="cb7"/>
          <p:cNvSpPr/>
          <p:nvPr/>
        </p:nvSpPr>
        <p:spPr>
          <a:xfrm>
            <a:off x="320040" y="720000"/>
            <a:ext cx="8503920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ca7"/>
          <p:cNvSpPr/>
          <p:nvPr/>
        </p:nvSpPr>
        <p:spPr>
          <a:xfrm>
            <a:off x="320040" y="720000"/>
            <a:ext cx="56000" cy="900000"/>
          </a:xfrm>
          <a:prstGeom prst="rect">
            <a:avLst/>
          </a:prstGeom>
          <a:solidFill>
            <a:srgbClr val="0EA5E9"/>
          </a:solidFill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9"/>
              <p:cNvSpPr/>
              <p:nvPr/>
            </p:nvSpPr>
            <p:spPr>
              <a:xfrm>
                <a:off x="390000" y="760000"/>
                <a:ext cx="8360000" cy="840000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t"/>
              <a:lstStyle/>
              <a:p>
                <a:pPr marL="0" indent="0">
                  <a:buNone/>
                </a:pPr>
                <a:r>
                  <a:rPr lang="vi-VN" sz="1300" b="1" dirty="0">
                    <a:solidFill>
                      <a:srgbClr val="0EA5E9"/>
                    </a:solidFill>
                    <a:latin typeface="Calibri"/>
                  </a:rPr>
                  <a:t>Giai đoạn 1 — Khởi tạo Bank  (M tasks đầu tiên, ví dụ M=20)</a:t>
                </a:r>
              </a:p>
              <a:p>
                <a:pPr marL="0" indent="0">
                  <a:buNone/>
                </a:pPr>
                <a:endParaRPr lang="vi-VN" sz="800" dirty="0"/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Train bình thường như NoRGa cho M tasks đầu → Bank B 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, ...,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dirty="0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dirty="0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100" b="0" i="1" dirty="0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}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065F46"/>
                    </a:solidFill>
                    <a:latin typeface="Calibri"/>
                  </a:rPr>
                  <a:t>Không cần bước bổ sung — Bank được tạo miễn phí. Kích thước M cố định suốt quá trình.</a:t>
                </a:r>
              </a:p>
            </p:txBody>
          </p:sp>
        </mc:Choice>
        <mc:Fallback xmlns="">
          <p:sp>
            <p:nvSpPr>
              <p:cNvPr id="9" name="t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00" y="760000"/>
                <a:ext cx="8360000" cy="840000"/>
              </a:xfrm>
              <a:prstGeom prst="rect">
                <a:avLst/>
              </a:prstGeom>
              <a:blipFill>
                <a:blip r:embed="rId2"/>
                <a:stretch>
                  <a:fillRect l="-146" t="-73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b10"/>
          <p:cNvSpPr/>
          <p:nvPr/>
        </p:nvSpPr>
        <p:spPr>
          <a:xfrm>
            <a:off x="320040" y="1680000"/>
            <a:ext cx="8503920" cy="17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ca10"/>
          <p:cNvSpPr/>
          <p:nvPr/>
        </p:nvSpPr>
        <p:spPr>
          <a:xfrm>
            <a:off x="320040" y="1680000"/>
            <a:ext cx="56000" cy="1730000"/>
          </a:xfrm>
          <a:prstGeom prst="rect">
            <a:avLst/>
          </a:prstGeom>
          <a:solidFill>
            <a:srgbClr val="2563EB"/>
          </a:solidFill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12"/>
              <p:cNvSpPr/>
              <p:nvPr/>
            </p:nvSpPr>
            <p:spPr>
              <a:xfrm>
                <a:off x="390000" y="1720000"/>
                <a:ext cx="8360000" cy="1660000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t"/>
              <a:lstStyle/>
              <a:p>
                <a:pPr marL="0" indent="0">
                  <a:buNone/>
                </a:pPr>
                <a:r>
                  <a:rPr lang="vi-VN" sz="1300" b="1" dirty="0">
                    <a:solidFill>
                      <a:srgbClr val="2563EB"/>
                    </a:solidFill>
                    <a:latin typeface="Calibri"/>
                  </a:rPr>
                  <a:t>Giai đoạn 2 — Task mới T+1 đến  (khi T &gt; M)</a:t>
                </a:r>
              </a:p>
              <a:p>
                <a:pPr marL="0" indent="0">
                  <a:buNone/>
                </a:pPr>
                <a:endParaRPr lang="vi-VN" sz="800" dirty="0"/>
              </a:p>
              <a:p>
                <a:pPr marL="0" indent="0">
                  <a:buNone/>
                </a:pPr>
                <a:r>
                  <a:rPr lang="vi-VN" sz="1150" b="1" dirty="0">
                    <a:solidFill>
                      <a:srgbClr val="374151"/>
                    </a:solidFill>
                    <a:latin typeface="Calibri"/>
                  </a:rPr>
                  <a:t>Bước 2a — Tìm sparse coefficients (giữ nguyên Bank B, chỉ học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50" b="1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1150" b="1" i="1" smtClean="0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150" b="1" i="1" smtClean="0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sz="1150" b="1" i="1" smtClean="0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  <m:sub>
                        <m:r>
                          <a:rPr lang="en-US" sz="1150" b="1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1150" b="1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150" b="1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vi-VN" sz="1150" b="1" dirty="0">
                    <a:solidFill>
                      <a:srgbClr val="374151"/>
                    </a:solidFill>
                    <a:latin typeface="Calibri"/>
                  </a:rPr>
                  <a:t>):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150" b="0" i="1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1150" b="0" i="1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150" b="0" i="1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1150" b="0" i="1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  <m:sub>
                        <m:r>
                          <a:rPr lang="en-US" sz="1150" b="0" i="1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150" b="0" i="1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150" b="0" i="1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vi-VN" sz="1150" dirty="0">
                    <a:solidFill>
                      <a:srgbClr val="1E3A5F"/>
                    </a:solidFill>
                    <a:latin typeface="Calibri"/>
                  </a:rPr>
                  <a:t>= argmin_{α, ||α||₀ ≤ k}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50" b="0" i="1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50" b="0" i="1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150" b="0" i="1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  <m:t>𝑊𝑇𝑃</m:t>
                        </m:r>
                      </m:sub>
                    </m:sSub>
                  </m:oMath>
                </a14:m>
                <a:r>
                  <a:rPr lang="vi-VN" sz="1150" dirty="0">
                    <a:solidFill>
                      <a:srgbClr val="1E3A5F"/>
                    </a:solidFill>
                    <a:latin typeface="Calibri"/>
                  </a:rPr>
                  <a:t>( Σ αₘ·eₘ ,</a:t>
                </a:r>
                <a:r>
                  <a:rPr lang="en-US" sz="1150" dirty="0">
                    <a:solidFill>
                      <a:srgbClr val="1E3A5F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50" b="0" i="1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50" b="0" i="1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150" b="0" i="1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150" b="0" i="1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150" b="0" i="1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vi-VN" sz="1150" dirty="0">
                    <a:solidFill>
                      <a:srgbClr val="1E3A5F"/>
                    </a:solidFill>
                    <a:latin typeface="Calibri"/>
                  </a:rPr>
                  <a:t>)  +  λ||α||₁</a:t>
                </a:r>
              </a:p>
              <a:p>
                <a:pPr marL="0" indent="0">
                  <a:buNone/>
                </a:pPr>
                <a:r>
                  <a:rPr lang="vi-VN" sz="1000" dirty="0">
                    <a:solidFill>
                      <a:srgbClr val="374151"/>
                    </a:solidFill>
                    <a:latin typeface="Calibri"/>
                  </a:rPr>
                  <a:t>→ Bài toán nhỏ, hội tụ nhanh (Bank cố định = không backprop qua Bank)</a:t>
                </a:r>
              </a:p>
              <a:p>
                <a:pPr marL="0" indent="0">
                  <a:buNone/>
                </a:pPr>
                <a:endParaRPr lang="vi-VN" sz="800" dirty="0"/>
              </a:p>
              <a:p>
                <a:pPr marL="0" indent="0">
                  <a:buNone/>
                </a:pPr>
                <a:r>
                  <a:rPr lang="vi-VN" sz="1150" b="1" dirty="0">
                    <a:solidFill>
                      <a:srgbClr val="374151"/>
                    </a:solidFill>
                    <a:latin typeface="Calibri"/>
                  </a:rPr>
                  <a:t>Bước 2b — Kiểm tra residual:  ε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50" b="1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50" b="1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sz="1150" b="1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𝑾𝑻𝑷</m:t>
                        </m:r>
                      </m:sub>
                    </m:sSub>
                  </m:oMath>
                </a14:m>
                <a:r>
                  <a:rPr lang="vi-VN" sz="1150" b="1" dirty="0">
                    <a:solidFill>
                      <a:srgbClr val="374151"/>
                    </a:solidFill>
                    <a:latin typeface="Calibri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150" b="1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150" b="1" i="1" smtClean="0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50" b="1" i="1" smtClean="0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1150" b="1" i="1" smtClean="0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  <m:r>
                              <a:rPr lang="en-US" sz="1150" b="1" i="1" smtClean="0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150" b="1" i="1" smtClean="0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</m:oMath>
                </a14:m>
                <a:r>
                  <a:rPr lang="vi-VN" sz="1150" b="1" dirty="0">
                    <a:solidFill>
                      <a:srgbClr val="374151"/>
                    </a:solidFill>
                    <a:latin typeface="Calibri"/>
                  </a:rPr>
                  <a:t>) 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50" b="1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50" b="1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sz="1150" b="1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𝑾𝑻𝑷</m:t>
                        </m:r>
                      </m:sub>
                    </m:sSub>
                  </m:oMath>
                </a14:m>
                <a:r>
                  <a:rPr lang="vi-VN" sz="1150" b="1" dirty="0">
                    <a:solidFill>
                      <a:srgbClr val="374151"/>
                    </a:solidFill>
                    <a:latin typeface="Calibri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50" b="1" i="1" dirty="0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150" b="1" i="1" dirty="0" smtClean="0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50" b="1" i="1" dirty="0" smtClean="0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1150" b="1" i="1" dirty="0" smtClean="0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  <m:r>
                              <a:rPr lang="en-US" sz="1150" b="1" i="1" dirty="0" smtClean="0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150" b="1" i="1" dirty="0" smtClean="0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  <m:sup>
                        <m:r>
                          <a:rPr lang="en-US" sz="1150" b="1" i="1" dirty="0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𝒇𝒖𝒍𝒍</m:t>
                        </m:r>
                      </m:sup>
                    </m:sSup>
                  </m:oMath>
                </a14:m>
                <a:r>
                  <a:rPr lang="vi-VN" sz="1150" b="1" dirty="0">
                    <a:solidFill>
                      <a:srgbClr val="374151"/>
                    </a:solidFill>
                    <a:latin typeface="Calibri"/>
                  </a:rPr>
                  <a:t>)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065F46"/>
                    </a:solidFill>
                    <a:latin typeface="Calibri"/>
                  </a:rPr>
                  <a:t>Nếu ε &lt; δ: Bank đủ → chỉ lưu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solidFill>
                              <a:srgbClr val="065F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solidFill>
                              <a:srgbClr val="065F46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rgbClr val="065F46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100" b="0" i="1" smtClean="0">
                            <a:solidFill>
                              <a:srgbClr val="065F46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100" b="0" i="1" smtClean="0">
                            <a:solidFill>
                              <a:srgbClr val="065F4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vi-VN" sz="1100" dirty="0">
                    <a:solidFill>
                      <a:srgbClr val="065F46"/>
                    </a:solidFill>
                    <a:latin typeface="Calibri"/>
                  </a:rPr>
                  <a:t>(M số thực). Không thêm expert mới! ✅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7F1D1D"/>
                    </a:solidFill>
                    <a:latin typeface="Calibri"/>
                  </a:rPr>
                  <a:t>Nếu ε ≥ δ: Task có tri thức mới → kích hoạt Giai đoạn 3</a:t>
                </a:r>
              </a:p>
            </p:txBody>
          </p:sp>
        </mc:Choice>
        <mc:Fallback xmlns="">
          <p:sp>
            <p:nvSpPr>
              <p:cNvPr id="12" name="t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00" y="1720000"/>
                <a:ext cx="8360000" cy="1660000"/>
              </a:xfrm>
              <a:prstGeom prst="rect">
                <a:avLst/>
              </a:prstGeom>
              <a:blipFill>
                <a:blip r:embed="rId3"/>
                <a:stretch>
                  <a:fillRect l="-146" t="-36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b13"/>
          <p:cNvSpPr/>
          <p:nvPr/>
        </p:nvSpPr>
        <p:spPr>
          <a:xfrm>
            <a:off x="320040" y="3470000"/>
            <a:ext cx="8503920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ca13"/>
          <p:cNvSpPr/>
          <p:nvPr/>
        </p:nvSpPr>
        <p:spPr>
          <a:xfrm>
            <a:off x="320040" y="3470000"/>
            <a:ext cx="56000" cy="90000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15"/>
              <p:cNvSpPr/>
              <p:nvPr/>
            </p:nvSpPr>
            <p:spPr>
              <a:xfrm>
                <a:off x="390000" y="3510000"/>
                <a:ext cx="8360000" cy="840000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t"/>
              <a:lstStyle/>
              <a:p>
                <a:pPr marL="0" indent="0">
                  <a:buNone/>
                </a:pPr>
                <a:r>
                  <a:rPr lang="vi-VN" sz="1300" b="1" dirty="0">
                    <a:solidFill>
                      <a:srgbClr val="0D9488"/>
                    </a:solidFill>
                    <a:latin typeface="Calibri"/>
                  </a:rPr>
                  <a:t>Giai đoạn 3 — Update Bank  (chỉ khi ε ≥ δ)</a:t>
                </a:r>
              </a:p>
              <a:p>
                <a:pPr marL="0" indent="0">
                  <a:buNone/>
                </a:pPr>
                <a:endParaRPr lang="vi-VN" sz="800" dirty="0"/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m* = argmin_m  Σ_{t=1}^{T} 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|    ← expert ít task nào dùng → candidate thay thế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065F46"/>
                    </a:solidFill>
                    <a:latin typeface="Calibri"/>
                  </a:rPr>
                  <a:t>Thay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solidFill>
                              <a:srgbClr val="065F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solidFill>
                              <a:srgbClr val="065F46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sSup>
                          <m:sSupPr>
                            <m:ctrlPr>
                              <a:rPr lang="en-US" sz="1100" b="0" i="1" smtClean="0">
                                <a:solidFill>
                                  <a:srgbClr val="065F4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100" b="0" i="1" smtClean="0">
                                <a:solidFill>
                                  <a:srgbClr val="065F46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1100" b="0" i="1" smtClean="0">
                                <a:solidFill>
                                  <a:srgbClr val="065F46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sz="1100" dirty="0">
                    <a:solidFill>
                      <a:srgbClr val="065F46"/>
                    </a:solidFill>
                    <a:latin typeface="Calibri"/>
                  </a:rPr>
                  <a:t> </a:t>
                </a:r>
                <a:r>
                  <a:rPr lang="vi-VN" sz="1100" dirty="0">
                    <a:solidFill>
                      <a:srgbClr val="065F46"/>
                    </a:solidFill>
                    <a:latin typeface="Calibri"/>
                  </a:rPr>
                  <a:t>bằng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0" i="1" smtClean="0">
                            <a:solidFill>
                              <a:srgbClr val="065F4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100" b="0" i="1" smtClean="0">
                                <a:solidFill>
                                  <a:srgbClr val="065F4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solidFill>
                                  <a:srgbClr val="065F46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100" b="0" i="1" smtClean="0">
                                <a:solidFill>
                                  <a:srgbClr val="065F46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1100" b="0" i="1" smtClean="0">
                                <a:solidFill>
                                  <a:srgbClr val="065F46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100" b="0" i="1" smtClean="0">
                                <a:solidFill>
                                  <a:srgbClr val="065F46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sz="1100" b="0" i="1" smtClean="0">
                            <a:solidFill>
                              <a:srgbClr val="065F46"/>
                            </a:solidFill>
                            <a:latin typeface="Cambria Math" panose="02040503050406030204" pitchFamily="18" charset="0"/>
                          </a:rPr>
                          <m:t>𝑓𝑢𝑙𝑙</m:t>
                        </m:r>
                      </m:sup>
                    </m:sSup>
                  </m:oMath>
                </a14:m>
                <a:r>
                  <a:rPr lang="vi-VN" sz="1100" dirty="0">
                    <a:solidFill>
                      <a:srgbClr val="065F46"/>
                    </a:solidFill>
                    <a:latin typeface="Calibri"/>
                  </a:rPr>
                  <a:t>. Bank giữ kích thước M = constant storage! ✅</a:t>
                </a:r>
              </a:p>
            </p:txBody>
          </p:sp>
        </mc:Choice>
        <mc:Fallback xmlns="">
          <p:sp>
            <p:nvSpPr>
              <p:cNvPr id="15" name="t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00" y="3510000"/>
                <a:ext cx="8360000" cy="840000"/>
              </a:xfrm>
              <a:prstGeom prst="rect">
                <a:avLst/>
              </a:prstGeom>
              <a:blipFill>
                <a:blip r:embed="rId4"/>
                <a:stretch>
                  <a:fillRect l="-146" t="-72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16"/>
          <p:cNvSpPr/>
          <p:nvPr/>
        </p:nvSpPr>
        <p:spPr>
          <a:xfrm>
            <a:off x="320040" y="4430000"/>
            <a:ext cx="8503920" cy="249748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17"/>
          <p:cNvSpPr/>
          <p:nvPr/>
        </p:nvSpPr>
        <p:spPr>
          <a:xfrm>
            <a:off x="390000" y="4436000"/>
            <a:ext cx="8360000" cy="172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vi-VN" sz="1050" dirty="0">
                <a:solidFill>
                  <a:srgbClr val="92400E"/>
                </a:solidFill>
                <a:latin typeface="Calibri"/>
              </a:rPr>
              <a:t>Hyperparameters cần tune: M (bank size), k (sparsity degree), δ (residual threshold), λ (L1 strength)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b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558"/>
          </a:solidFill>
        </p:spPr>
        <p:txBody>
          <a:bodyPr/>
          <a:lstStyle/>
          <a:p>
            <a:endParaRPr/>
          </a:p>
        </p:txBody>
      </p:sp>
      <p:sp>
        <p:nvSpPr>
          <p:cNvPr id="3" name="ha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</p:spPr>
        <p:txBody>
          <a:bodyPr/>
          <a:lstStyle/>
          <a:p>
            <a:endParaRPr/>
          </a:p>
        </p:txBody>
      </p:sp>
      <p:sp>
        <p:nvSpPr>
          <p:cNvPr id="4" name="ht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vi-VN" sz="2200" b="1" dirty="0">
                <a:solidFill>
                  <a:srgbClr val="FFFFFF"/>
                </a:solidFill>
                <a:latin typeface="Calibri"/>
              </a:rPr>
              <a:t>Định hướng 1 — Kết nối Lý thuyết &amp; Kế hoạch </a:t>
            </a:r>
            <a:r>
              <a:rPr lang="en-US" sz="2200" b="1" dirty="0" err="1">
                <a:solidFill>
                  <a:srgbClr val="FFFFFF"/>
                </a:solidFill>
                <a:latin typeface="Calibri"/>
              </a:rPr>
              <a:t>Cắt</a:t>
            </a:r>
            <a:r>
              <a:rPr lang="en-US"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libri"/>
              </a:rPr>
              <a:t>bớt</a:t>
            </a:r>
            <a:endParaRPr lang="vi-VN"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fb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558"/>
          </a:solidFill>
        </p:spPr>
        <p:txBody>
          <a:bodyPr/>
          <a:lstStyle/>
          <a:p>
            <a:endParaRPr/>
          </a:p>
        </p:txBody>
      </p:sp>
      <p:sp>
        <p:nvSpPr>
          <p:cNvPr id="6" name="ft"/>
          <p:cNvSpPr/>
          <p:nvPr/>
        </p:nvSpPr>
        <p:spPr>
          <a:xfrm>
            <a:off x="274320" y="488718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BB8FF"/>
                </a:solidFill>
                <a:latin typeface="Calibri"/>
              </a:rPr>
              <a:t>NoRGa — NeurIPS 2024  |  Lưu Hải Đăng</a:t>
            </a:r>
          </a:p>
        </p:txBody>
      </p:sp>
      <p:sp>
        <p:nvSpPr>
          <p:cNvPr id="7" name="cb7"/>
          <p:cNvSpPr/>
          <p:nvPr/>
        </p:nvSpPr>
        <p:spPr>
          <a:xfrm>
            <a:off x="320040" y="720000"/>
            <a:ext cx="4000000" cy="28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ca7"/>
          <p:cNvSpPr/>
          <p:nvPr/>
        </p:nvSpPr>
        <p:spPr>
          <a:xfrm>
            <a:off x="320040" y="720000"/>
            <a:ext cx="56000" cy="2870000"/>
          </a:xfrm>
          <a:prstGeom prst="rect">
            <a:avLst/>
          </a:prstGeom>
          <a:solidFill>
            <a:srgbClr val="2563EB"/>
          </a:solidFill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9"/>
              <p:cNvSpPr/>
              <p:nvPr/>
            </p:nvSpPr>
            <p:spPr>
              <a:xfrm>
                <a:off x="390000" y="760000"/>
                <a:ext cx="3880000" cy="2790000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t"/>
              <a:lstStyle/>
              <a:p>
                <a:pPr marL="0" indent="0">
                  <a:buNone/>
                </a:pPr>
                <a:r>
                  <a:rPr lang="vi-VN" sz="1350" b="1" dirty="0">
                    <a:solidFill>
                      <a:srgbClr val="2563EB"/>
                    </a:solidFill>
                    <a:latin typeface="Calibri"/>
                  </a:rPr>
                  <a:t>Kết nối với Theorem 4.1</a:t>
                </a:r>
              </a:p>
              <a:p>
                <a:pPr marL="0" indent="0">
                  <a:buNone/>
                </a:pPr>
                <a:endParaRPr lang="vi-VN" sz="800" dirty="0"/>
              </a:p>
              <a:p>
                <a:pPr marL="0" indent="0">
                  <a:buNone/>
                </a:pPr>
                <a:r>
                  <a:rPr lang="vi-VN" sz="1150" b="1" dirty="0">
                    <a:solidFill>
                      <a:srgbClr val="374151"/>
                    </a:solidFill>
                    <a:latin typeface="Calibri"/>
                  </a:rPr>
                  <a:t>Theorem 4.1 (bài báo):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1E3A5F"/>
                    </a:solidFill>
                    <a:latin typeface="Calibri"/>
                  </a:rPr>
                  <a:t>||g_{Ĝn} − g_{G*}||_{L²(μ)} = O_P(√(logn/n))</a:t>
                </a:r>
              </a:p>
              <a:p>
                <a:pPr marL="0" indent="0">
                  <a:buNone/>
                </a:pPr>
                <a:r>
                  <a:rPr lang="vi-VN" sz="1050" dirty="0">
                    <a:solidFill>
                      <a:srgbClr val="374151"/>
                    </a:solidFill>
                    <a:latin typeface="Calibri"/>
                  </a:rPr>
                  <a:t>Tốc độ hội tụ tỷ lệ thuận với n mẫu.</a:t>
                </a:r>
              </a:p>
              <a:p>
                <a:pPr marL="0" indent="0">
                  <a:buNone/>
                </a:pPr>
                <a:endParaRPr lang="vi-VN" sz="800" dirty="0"/>
              </a:p>
              <a:p>
                <a:pPr marL="0" indent="0">
                  <a:buNone/>
                </a:pPr>
                <a:r>
                  <a:rPr lang="vi-VN" sz="1150" b="1" dirty="0">
                    <a:solidFill>
                      <a:srgbClr val="374151"/>
                    </a:solidFill>
                    <a:latin typeface="Calibri"/>
                  </a:rPr>
                  <a:t>Với Shared Expert Bank: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Expert eₘ học từ TẤT CẢ tasks dùng nó:</a:t>
                </a:r>
              </a:p>
              <a:p>
                <a:pPr marL="0" indent="0">
                  <a:buNone/>
                </a:pPr>
                <a:r>
                  <a:rPr lang="vi-VN" sz="1200" dirty="0">
                    <a:solidFill>
                      <a:srgbClr val="1D4ED8"/>
                    </a:solidFill>
                    <a:latin typeface="Calibri"/>
                  </a:rPr>
                  <a:t>n_eff(eₘ) = Σ_{t: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rgbClr val="1D4ED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1D4ED8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1D4ED8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b="0" i="1" smtClean="0">
                            <a:solidFill>
                              <a:srgbClr val="1D4ED8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solidFill>
                              <a:srgbClr val="1D4ED8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vi-VN" sz="1200" dirty="0">
                    <a:solidFill>
                      <a:srgbClr val="1D4ED8"/>
                    </a:solidFill>
                    <a:latin typeface="Calibri"/>
                  </a:rPr>
                  <a:t>&gt;0} Nₜ</a:t>
                </a:r>
                <a:r>
                  <a:rPr lang="en-US" sz="1200" dirty="0">
                    <a:solidFill>
                      <a:srgbClr val="1D4ED8"/>
                    </a:solidFill>
                    <a:latin typeface="Calibri"/>
                  </a:rPr>
                  <a:t>        </a:t>
                </a:r>
                <a:r>
                  <a:rPr lang="vi-VN" sz="1200" dirty="0">
                    <a:solidFill>
                      <a:srgbClr val="1D4ED8"/>
                    </a:solidFill>
                    <a:latin typeface="Calibri"/>
                  </a:rPr>
                  <a:t> &gt;&gt; </a:t>
                </a:r>
                <a:r>
                  <a:rPr lang="en-US" sz="1200" dirty="0">
                    <a:solidFill>
                      <a:srgbClr val="1D4ED8"/>
                    </a:solidFill>
                    <a:latin typeface="Calibri"/>
                  </a:rP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rgbClr val="1D4ED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1D4ED8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1D4ED8"/>
                            </a:solidFill>
                            <a:latin typeface="Cambria Math" panose="02040503050406030204" pitchFamily="18" charset="0"/>
                          </a:rPr>
                          <m:t>𝑡𝑎𝑠𝑘</m:t>
                        </m:r>
                      </m:sub>
                    </m:sSub>
                  </m:oMath>
                </a14:m>
                <a:endParaRPr lang="vi-VN" sz="1200" dirty="0">
                  <a:solidFill>
                    <a:srgbClr val="1D4ED8"/>
                  </a:solidFill>
                  <a:latin typeface="Calibri"/>
                </a:endParaRPr>
              </a:p>
              <a:p>
                <a:pPr marL="0" indent="0">
                  <a:buNone/>
                </a:pPr>
                <a:endParaRPr lang="vi-VN" sz="800" dirty="0"/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→ Convergence rate cải thiện theo đúng</a:t>
                </a:r>
              </a:p>
              <a:p>
                <a:pPr marL="0" indent="0">
                  <a:buNone/>
                </a:pPr>
                <a:r>
                  <a:rPr lang="vi-VN" sz="1150" b="1" dirty="0">
                    <a:solidFill>
                      <a:srgbClr val="1D4ED8"/>
                    </a:solidFill>
                    <a:latin typeface="Calibri"/>
                  </a:rPr>
                  <a:t>   chiều Theorem 4.1 dự đoán!</a:t>
                </a:r>
                <a:endParaRPr lang="en-US" sz="1150" b="1" dirty="0">
                  <a:solidFill>
                    <a:srgbClr val="1D4ED8"/>
                  </a:solidFill>
                  <a:latin typeface="Calibri"/>
                </a:endParaRPr>
              </a:p>
              <a:p>
                <a:pPr marL="0" indent="0">
                  <a:buNone/>
                </a:pPr>
                <a:endParaRPr lang="vi-VN" sz="1150" b="1" dirty="0">
                  <a:solidFill>
                    <a:srgbClr val="1D4ED8"/>
                  </a:solidFill>
                  <a:latin typeface="Calibri"/>
                </a:endParaRP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065F46"/>
                    </a:solidFill>
                    <a:latin typeface="Calibri"/>
                  </a:rPr>
                  <a:t>→ Shared Bank KHÔNG đánh đổi accuracy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065F46"/>
                    </a:solidFill>
                    <a:latin typeface="Calibri"/>
                  </a:rPr>
                  <a:t>   — lý thuyết dự đoán còn học TỐT HƠN!</a:t>
                </a:r>
              </a:p>
            </p:txBody>
          </p:sp>
        </mc:Choice>
        <mc:Fallback xmlns="">
          <p:sp>
            <p:nvSpPr>
              <p:cNvPr id="9" name="t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00" y="760000"/>
                <a:ext cx="3880000" cy="2790000"/>
              </a:xfrm>
              <a:prstGeom prst="rect">
                <a:avLst/>
              </a:prstGeom>
              <a:blipFill>
                <a:blip r:embed="rId2"/>
                <a:stretch>
                  <a:fillRect l="-472" t="-43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b10"/>
          <p:cNvSpPr/>
          <p:nvPr/>
        </p:nvSpPr>
        <p:spPr>
          <a:xfrm>
            <a:off x="4480040" y="720000"/>
            <a:ext cx="4343960" cy="28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ca10"/>
          <p:cNvSpPr/>
          <p:nvPr/>
        </p:nvSpPr>
        <p:spPr>
          <a:xfrm>
            <a:off x="4480040" y="720000"/>
            <a:ext cx="56000" cy="2870000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/>
          </a:p>
        </p:txBody>
      </p:sp>
      <p:sp>
        <p:nvSpPr>
          <p:cNvPr id="12" name="t12"/>
          <p:cNvSpPr/>
          <p:nvPr/>
        </p:nvSpPr>
        <p:spPr>
          <a:xfrm>
            <a:off x="4550000" y="760000"/>
            <a:ext cx="4220000" cy="279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vi-VN" sz="1350" b="1" dirty="0">
                <a:solidFill>
                  <a:srgbClr val="92400E"/>
                </a:solidFill>
                <a:latin typeface="Calibri"/>
              </a:rPr>
              <a:t>Kế hoạch Ablation Study</a:t>
            </a:r>
          </a:p>
          <a:p>
            <a:pPr marL="0" indent="0">
              <a:buNone/>
            </a:pPr>
            <a:r>
              <a:rPr lang="vi-VN" sz="1100" dirty="0">
                <a:solidFill>
                  <a:srgbClr val="374151"/>
                </a:solidFill>
                <a:latin typeface="Calibri"/>
              </a:rPr>
              <a:t>Dataset: Split CIFAR-100 (20 tasks × 5 classes)</a:t>
            </a:r>
          </a:p>
          <a:p>
            <a:pPr marL="0" indent="0">
              <a:buNone/>
            </a:pPr>
            <a:endParaRPr lang="vi-VN" sz="800" dirty="0"/>
          </a:p>
          <a:p>
            <a:pPr marL="0" indent="0">
              <a:buNone/>
            </a:pPr>
            <a:r>
              <a:rPr lang="vi-VN" sz="1150" b="1" dirty="0">
                <a:solidFill>
                  <a:srgbClr val="374151"/>
                </a:solidFill>
                <a:latin typeface="Calibri"/>
              </a:rPr>
              <a:t>E1 — Baseline NoRGa gốc:</a:t>
            </a:r>
          </a:p>
          <a:p>
            <a:pPr marL="0" indent="0">
              <a:buNone/>
            </a:pPr>
            <a:r>
              <a:rPr lang="vi-VN" sz="1050" dirty="0">
                <a:solidFill>
                  <a:srgbClr val="1E293B"/>
                </a:solidFill>
                <a:latin typeface="Calibri"/>
              </a:rPr>
              <a:t>   T×Lp×d storage, FA sau mỗi 5 tasks</a:t>
            </a:r>
          </a:p>
          <a:p>
            <a:pPr marL="0" indent="0">
              <a:buNone/>
            </a:pPr>
            <a:endParaRPr lang="vi-VN" sz="800" dirty="0"/>
          </a:p>
          <a:p>
            <a:pPr marL="0" indent="0">
              <a:buNone/>
            </a:pPr>
            <a:r>
              <a:rPr lang="vi-VN" sz="1150" b="1" dirty="0">
                <a:solidFill>
                  <a:srgbClr val="374151"/>
                </a:solidFill>
                <a:latin typeface="Calibri"/>
              </a:rPr>
              <a:t>E2 — Shared Bank, k=1:</a:t>
            </a:r>
          </a:p>
          <a:p>
            <a:pPr marL="0" indent="0">
              <a:buNone/>
            </a:pPr>
            <a:r>
              <a:rPr lang="vi-VN" sz="1050" dirty="0">
                <a:solidFill>
                  <a:srgbClr val="1E293B"/>
                </a:solidFill>
                <a:latin typeface="Calibri"/>
              </a:rPr>
              <a:t>   1 expert/task. FA drop bao nhiêu?</a:t>
            </a:r>
          </a:p>
          <a:p>
            <a:pPr marL="0" indent="0">
              <a:buNone/>
            </a:pPr>
            <a:endParaRPr lang="vi-VN" sz="800" dirty="0"/>
          </a:p>
          <a:p>
            <a:pPr marL="0" indent="0">
              <a:buNone/>
            </a:pPr>
            <a:r>
              <a:rPr lang="vi-VN" sz="1150" b="1" dirty="0">
                <a:solidFill>
                  <a:srgbClr val="374151"/>
                </a:solidFill>
                <a:latin typeface="Calibri"/>
              </a:rPr>
              <a:t>E3 — Shared Bank, k=2  ← đề xuất chính:</a:t>
            </a:r>
          </a:p>
          <a:p>
            <a:pPr marL="0" indent="0">
              <a:buNone/>
            </a:pPr>
            <a:r>
              <a:rPr lang="vi-VN" sz="1050" dirty="0">
                <a:solidFill>
                  <a:srgbClr val="1E293B"/>
                </a:solidFill>
                <a:latin typeface="Calibri"/>
              </a:rPr>
              <a:t>   FA vs memory. Expert reuse rate?</a:t>
            </a:r>
          </a:p>
          <a:p>
            <a:pPr marL="0" indent="0">
              <a:buNone/>
            </a:pPr>
            <a:endParaRPr lang="vi-VN" sz="800" dirty="0"/>
          </a:p>
          <a:p>
            <a:pPr marL="0" indent="0">
              <a:buNone/>
            </a:pPr>
            <a:r>
              <a:rPr lang="vi-VN" sz="1150" b="1" dirty="0">
                <a:solidFill>
                  <a:srgbClr val="374151"/>
                </a:solidFill>
                <a:latin typeface="Calibri"/>
              </a:rPr>
              <a:t>E4 — Shared Bank, k=3:</a:t>
            </a:r>
          </a:p>
          <a:p>
            <a:pPr marL="0" indent="0">
              <a:buNone/>
            </a:pPr>
            <a:r>
              <a:rPr lang="vi-VN" sz="1050" dirty="0">
                <a:solidFill>
                  <a:srgbClr val="1E293B"/>
                </a:solidFill>
                <a:latin typeface="Calibri"/>
              </a:rPr>
              <a:t>   Diminishing returns từ k=2 lên k=3?</a:t>
            </a:r>
          </a:p>
          <a:p>
            <a:pPr marL="0" indent="0">
              <a:buNone/>
            </a:pPr>
            <a:endParaRPr lang="vi-VN" sz="800" dirty="0"/>
          </a:p>
          <a:p>
            <a:pPr marL="0" indent="0">
              <a:buNone/>
            </a:pPr>
            <a:r>
              <a:rPr lang="vi-VN" sz="1100" b="1" dirty="0">
                <a:solidFill>
                  <a:srgbClr val="065F46"/>
                </a:solidFill>
                <a:latin typeface="Calibri"/>
              </a:rPr>
              <a:t>Kỳ vọng: FA giảm &lt;0.5%, memory giảm ~60%</a:t>
            </a:r>
          </a:p>
        </p:txBody>
      </p:sp>
      <p:sp>
        <p:nvSpPr>
          <p:cNvPr id="14" name="t14"/>
          <p:cNvSpPr/>
          <p:nvPr/>
        </p:nvSpPr>
        <p:spPr>
          <a:xfrm>
            <a:off x="390000" y="3607000"/>
            <a:ext cx="8360000" cy="176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endParaRPr lang="vi-VN" sz="1100" b="1" dirty="0">
              <a:solidFill>
                <a:srgbClr val="1D4ED8"/>
              </a:solidFill>
              <a:latin typeface="Calibri"/>
            </a:endParaRPr>
          </a:p>
        </p:txBody>
      </p:sp>
      <p:sp>
        <p:nvSpPr>
          <p:cNvPr id="15" name="f15"/>
          <p:cNvSpPr/>
          <p:nvPr/>
        </p:nvSpPr>
        <p:spPr>
          <a:xfrm>
            <a:off x="320040" y="3840000"/>
            <a:ext cx="8503920" cy="82000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16"/>
              <p:cNvSpPr/>
              <p:nvPr/>
            </p:nvSpPr>
            <p:spPr>
              <a:xfrm>
                <a:off x="390000" y="3865000"/>
                <a:ext cx="8360000" cy="780000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t"/>
              <a:lstStyle/>
              <a:p>
                <a:pPr marL="0" indent="0">
                  <a:buNone/>
                </a:pPr>
                <a:r>
                  <a:rPr lang="vi-VN" sz="1250" b="1" dirty="0">
                    <a:solidFill>
                      <a:srgbClr val="059669"/>
                    </a:solidFill>
                    <a:latin typeface="Calibri"/>
                  </a:rPr>
                  <a:t>⭐  Tóm gọn </a:t>
                </a:r>
                <a:r>
                  <a:rPr lang="en-US" sz="1250" b="1" dirty="0" err="1">
                    <a:solidFill>
                      <a:srgbClr val="059669"/>
                    </a:solidFill>
                    <a:latin typeface="Calibri"/>
                  </a:rPr>
                  <a:t>lại</a:t>
                </a:r>
                <a:r>
                  <a:rPr lang="vi-VN" sz="1250" b="1" dirty="0">
                    <a:solidFill>
                      <a:srgbClr val="059669"/>
                    </a:solidFill>
                    <a:latin typeface="Calibri"/>
                  </a:rPr>
                  <a:t>: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Bài báo chứng minh prefix expert = điểm trong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lang="en-US" sz="1100" dirty="0">
                    <a:solidFill>
                      <a:srgbClr val="1E293B"/>
                    </a:solidFill>
                    <a:latin typeface="Calibri"/>
                  </a:rPr>
                  <a:t>Em </a:t>
                </a:r>
                <a:r>
                  <a:rPr lang="en-US" sz="1100" dirty="0" err="1">
                    <a:solidFill>
                      <a:srgbClr val="1E293B"/>
                    </a:solidFill>
                    <a:latin typeface="Calibri"/>
                  </a:rPr>
                  <a:t>tự</a:t>
                </a: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 hỏi: thay vì T prompt sets độc lập,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có thể học M shared experts + sparse coefficient αₜ không? Theorem 4.1 dự đoán sharing data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qua tasks cải thiện convergence. Codebase sẵn có, ablation rõ ràng, hoàn toàn khả thi!</a:t>
                </a:r>
              </a:p>
            </p:txBody>
          </p:sp>
        </mc:Choice>
        <mc:Fallback xmlns="">
          <p:sp>
            <p:nvSpPr>
              <p:cNvPr id="16" name="t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00" y="3865000"/>
                <a:ext cx="8360000" cy="780000"/>
              </a:xfrm>
              <a:prstGeom prst="rect">
                <a:avLst/>
              </a:prstGeom>
              <a:blipFill>
                <a:blip r:embed="rId3"/>
                <a:stretch>
                  <a:fillRect l="-73" t="-781" b="-625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2A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b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558"/>
          </a:solidFill>
        </p:spPr>
        <p:txBody>
          <a:bodyPr/>
          <a:lstStyle/>
          <a:p>
            <a:endParaRPr/>
          </a:p>
        </p:txBody>
      </p:sp>
      <p:sp>
        <p:nvSpPr>
          <p:cNvPr id="3" name="ha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/>
          </a:p>
        </p:txBody>
      </p:sp>
      <p:sp>
        <p:nvSpPr>
          <p:cNvPr id="4" name="ht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vi-VN" sz="2200" b="1" dirty="0">
                <a:solidFill>
                  <a:srgbClr val="FFFFFF"/>
                </a:solidFill>
                <a:latin typeface="Calibri"/>
              </a:rPr>
              <a:t>Định hướng 2</a:t>
            </a:r>
            <a:r>
              <a:rPr lang="en-US"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vi-VN" sz="2200" b="1" dirty="0">
                <a:solidFill>
                  <a:srgbClr val="FFFFFF"/>
                </a:solidFill>
                <a:latin typeface="Calibri"/>
              </a:rPr>
              <a:t>— Vấn đề cốt lõi của TII hiện tại</a:t>
            </a:r>
          </a:p>
        </p:txBody>
      </p:sp>
      <p:sp>
        <p:nvSpPr>
          <p:cNvPr id="5" name="fb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558"/>
          </a:solidFill>
        </p:spPr>
        <p:txBody>
          <a:bodyPr/>
          <a:lstStyle/>
          <a:p>
            <a:endParaRPr/>
          </a:p>
        </p:txBody>
      </p:sp>
      <p:sp>
        <p:nvSpPr>
          <p:cNvPr id="6" name="ft"/>
          <p:cNvSpPr/>
          <p:nvPr/>
        </p:nvSpPr>
        <p:spPr>
          <a:xfrm>
            <a:off x="274320" y="488718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BB8FF"/>
                </a:solidFill>
                <a:latin typeface="Calibri"/>
              </a:rPr>
              <a:t>NoRGa — NeurIPS 2024  |  Lưu Hải Đăng</a:t>
            </a:r>
          </a:p>
        </p:txBody>
      </p:sp>
      <p:sp>
        <p:nvSpPr>
          <p:cNvPr id="7" name="fb7"/>
          <p:cNvSpPr/>
          <p:nvPr/>
        </p:nvSpPr>
        <p:spPr>
          <a:xfrm>
            <a:off x="320040" y="719999"/>
            <a:ext cx="8503920" cy="254689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8"/>
          <p:cNvSpPr/>
          <p:nvPr/>
        </p:nvSpPr>
        <p:spPr>
          <a:xfrm>
            <a:off x="390000" y="727000"/>
            <a:ext cx="8360000" cy="171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vi-VN" sz="1200" b="1" dirty="0">
                <a:solidFill>
                  <a:srgbClr val="92400E"/>
                </a:solidFill>
                <a:latin typeface="Calibri"/>
              </a:rPr>
              <a:t>NoRGa cải thiện WTP xuất sắc — nhưng KHÔNG đụng vào TII. Nếu TII chọn sai task → WTP tốt cũng vô nghĩa!</a:t>
            </a:r>
          </a:p>
        </p:txBody>
      </p:sp>
      <p:sp>
        <p:nvSpPr>
          <p:cNvPr id="9" name="cb9"/>
          <p:cNvSpPr/>
          <p:nvPr/>
        </p:nvSpPr>
        <p:spPr>
          <a:xfrm>
            <a:off x="320040" y="1084417"/>
            <a:ext cx="8503920" cy="8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ca9"/>
          <p:cNvSpPr/>
          <p:nvPr/>
        </p:nvSpPr>
        <p:spPr>
          <a:xfrm>
            <a:off x="320040" y="1084417"/>
            <a:ext cx="56000" cy="890000"/>
          </a:xfrm>
          <a:prstGeom prst="rect">
            <a:avLst/>
          </a:prstGeom>
          <a:solidFill>
            <a:srgbClr val="94A3B8"/>
          </a:solidFill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11"/>
              <p:cNvSpPr/>
              <p:nvPr/>
            </p:nvSpPr>
            <p:spPr>
              <a:xfrm>
                <a:off x="390000" y="1124417"/>
                <a:ext cx="8360000" cy="820000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t"/>
              <a:lstStyle/>
              <a:p>
                <a:pPr marL="0" indent="0">
                  <a:buNone/>
                </a:pPr>
                <a:r>
                  <a:rPr lang="vi-VN" sz="1250" b="1" dirty="0">
                    <a:solidFill>
                      <a:srgbClr val="374151"/>
                    </a:solidFill>
                    <a:latin typeface="Calibri"/>
                  </a:rPr>
                  <a:t>Pipeline inference hiện tại của HiDe-Prompt + NoRGa:</a:t>
                </a:r>
              </a:p>
              <a:p>
                <a:pPr marL="0" indent="0">
                  <a:buNone/>
                </a:pPr>
                <a:endParaRPr lang="vi-VN" sz="700" dirty="0"/>
              </a:p>
              <a:p>
                <a:r>
                  <a:rPr lang="vi-VN" sz="1100" dirty="0">
                    <a:solidFill>
                      <a:srgbClr val="1E3A5F"/>
                    </a:solidFill>
                    <a:latin typeface="Calibri"/>
                  </a:rPr>
                  <a:t>① Input x  →  ②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vi-VN" sz="1100" dirty="0">
                    <a:solidFill>
                      <a:srgbClr val="1E3A5F"/>
                    </a:solidFill>
                    <a:latin typeface="Calibri"/>
                  </a:rPr>
                  <a:t>(x)  [forward KHÔNG prompt]  →  ③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100" b="0" i="1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100" b="0" i="1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100" b="0" i="1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b>
                        </m:sSub>
                      </m:e>
                    </m:acc>
                  </m:oMath>
                </a14:m>
                <a:r>
                  <a:rPr lang="vi-VN" sz="1100" dirty="0">
                    <a:solidFill>
                      <a:srgbClr val="1E3A5F"/>
                    </a:solidFill>
                    <a:latin typeface="Calibri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100" i="1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vi-VN" sz="1100" dirty="0">
                    <a:solidFill>
                      <a:srgbClr val="1E3A5F"/>
                    </a:solidFill>
                    <a:latin typeface="Calibri"/>
                  </a:rPr>
                  <a:t>(x)) 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0" i="1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0" i="1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100" b="0" i="1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vi-VN" sz="1100" dirty="0">
                    <a:solidFill>
                      <a:srgbClr val="1E3A5F"/>
                    </a:solidFill>
                    <a:latin typeface="Calibri"/>
                  </a:rPr>
                  <a:t>→  ④ k* = </a:t>
                </a:r>
                <a14:m>
                  <m:oMath xmlns:m="http://schemas.openxmlformats.org/officeDocument/2006/math">
                    <m:r>
                      <a:rPr lang="en-US" sz="1100" b="0" i="1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</a:rPr>
                      <m:t>𝑎𝑟𝑔𝑚𝑎</m:t>
                    </m:r>
                    <m:sSub>
                      <m:sSubPr>
                        <m:ctrlPr>
                          <a:rPr lang="en-US" sz="1100" b="0" i="1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100" dirty="0">
                    <a:solidFill>
                      <a:srgbClr val="1E3A5F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100" i="1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100" i="1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100" i="1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b>
                        </m:sSub>
                      </m:e>
                    </m:acc>
                  </m:oMath>
                </a14:m>
                <a:r>
                  <a:rPr lang="vi-VN" sz="1100" dirty="0">
                    <a:solidFill>
                      <a:srgbClr val="1E3A5F"/>
                    </a:solidFill>
                    <a:latin typeface="Calibri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100" i="1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vi-VN" sz="1100" dirty="0">
                    <a:solidFill>
                      <a:srgbClr val="1E3A5F"/>
                    </a:solidFill>
                    <a:latin typeface="Calibri"/>
                  </a:rPr>
                  <a:t>(x))→  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100" i="1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vi-VN" sz="1100" dirty="0">
                    <a:solidFill>
                      <a:srgbClr val="1E3A5F"/>
                    </a:solidFill>
                    <a:latin typeface="Calibri"/>
                  </a:rPr>
                  <a:t>(x,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100" b="0" i="1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vi-VN" sz="1100" dirty="0">
                    <a:solidFill>
                      <a:srgbClr val="1E3A5F"/>
                    </a:solidFill>
                    <a:latin typeface="Calibri"/>
                  </a:rPr>
                  <a:t>)  →  ŷ</a:t>
                </a:r>
              </a:p>
              <a:p>
                <a:pPr marL="0" indent="0">
                  <a:buNone/>
                </a:pPr>
                <a:endParaRPr lang="vi-VN" sz="700" dirty="0"/>
              </a:p>
              <a:p>
                <a:pPr marL="0" indent="0">
                  <a:buNone/>
                </a:pPr>
                <a:r>
                  <a:rPr lang="vi-VN" sz="1050" dirty="0">
                    <a:solidFill>
                      <a:srgbClr val="374151"/>
                    </a:solidFill>
                    <a:latin typeface="Calibri"/>
                  </a:rPr>
                  <a:t>→  Hai forward passes: một uninstructed (cho TII), một với prompt (cho WTP)</a:t>
                </a:r>
              </a:p>
            </p:txBody>
          </p:sp>
        </mc:Choice>
        <mc:Fallback xmlns="">
          <p:sp>
            <p:nvSpPr>
              <p:cNvPr id="11" name="t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00" y="1124417"/>
                <a:ext cx="8360000" cy="820000"/>
              </a:xfrm>
              <a:prstGeom prst="rect">
                <a:avLst/>
              </a:prstGeom>
              <a:blipFill>
                <a:blip r:embed="rId3"/>
                <a:stretch>
                  <a:fillRect l="-73" b="-592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b12"/>
          <p:cNvSpPr/>
          <p:nvPr/>
        </p:nvSpPr>
        <p:spPr>
          <a:xfrm>
            <a:off x="317960" y="2137763"/>
            <a:ext cx="4140000" cy="21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ca12"/>
          <p:cNvSpPr/>
          <p:nvPr/>
        </p:nvSpPr>
        <p:spPr>
          <a:xfrm>
            <a:off x="317960" y="2137763"/>
            <a:ext cx="56000" cy="2100000"/>
          </a:xfrm>
          <a:prstGeom prst="rect">
            <a:avLst/>
          </a:prstGeom>
          <a:solidFill>
            <a:srgbClr val="EF4444"/>
          </a:solidFill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14"/>
              <p:cNvSpPr/>
              <p:nvPr/>
            </p:nvSpPr>
            <p:spPr>
              <a:xfrm>
                <a:off x="387920" y="2187763"/>
                <a:ext cx="4020000" cy="2020000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t"/>
              <a:lstStyle/>
              <a:p>
                <a:pPr marL="0" indent="0">
                  <a:buNone/>
                </a:pPr>
                <a:r>
                  <a:rPr lang="vi-VN" sz="1250" b="1" dirty="0">
                    <a:solidFill>
                      <a:srgbClr val="EF4444"/>
                    </a:solidFill>
                    <a:latin typeface="Calibri"/>
                  </a:rPr>
                  <a:t>❌  Vấn đề A — Objective Mismatch</a:t>
                </a:r>
              </a:p>
              <a:p>
                <a:pPr marL="0" indent="0">
                  <a:buNone/>
                </a:pPr>
                <a:endParaRPr lang="vi-VN" sz="700" dirty="0"/>
              </a:p>
              <a:p>
                <a:pPr marL="0" indent="0">
                  <a:buNone/>
                </a:pPr>
                <a:r>
                  <a:rPr lang="vi-VN" sz="1150" b="1" dirty="0">
                    <a:solidFill>
                      <a:srgbClr val="374151"/>
                    </a:solidFill>
                    <a:latin typeface="Calibri"/>
                  </a:rPr>
                  <a:t>hˆω được train với TII loss: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  <m:t>𝑇𝐼𝐼</m:t>
                        </m:r>
                      </m:sub>
                    </m:sSub>
                  </m:oMath>
                </a14:m>
                <a:r>
                  <a:rPr lang="vi-VN" sz="1100" dirty="0">
                    <a:solidFill>
                      <a:srgbClr val="1E3A5F"/>
                    </a:solidFill>
                    <a:latin typeface="Calibri"/>
                  </a:rPr>
                  <a:t>= CrossEntropy(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100" i="1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100" i="1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100" i="1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b>
                        </m:sSub>
                      </m:e>
                    </m:acc>
                  </m:oMath>
                </a14:m>
                <a:r>
                  <a:rPr lang="vi-VN" sz="1100" dirty="0">
                    <a:solidFill>
                      <a:srgbClr val="1E3A5F"/>
                    </a:solidFill>
                    <a:latin typeface="Calibri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100" i="1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vi-VN" sz="1100" dirty="0">
                    <a:solidFill>
                      <a:srgbClr val="1E3A5F"/>
                    </a:solidFill>
                    <a:latin typeface="Calibri"/>
                  </a:rPr>
                  <a:t>(x))</a:t>
                </a:r>
                <a:r>
                  <a:rPr lang="en-US" sz="1100" dirty="0">
                    <a:solidFill>
                      <a:srgbClr val="1E3A5F"/>
                    </a:solidFill>
                    <a:latin typeface="Calibri"/>
                  </a:rPr>
                  <a:t>, </a:t>
                </a:r>
                <a:r>
                  <a:rPr lang="vi-VN" sz="1100" dirty="0">
                    <a:solidFill>
                      <a:srgbClr val="1E3A5F"/>
                    </a:solidFill>
                    <a:latin typeface="Calibri"/>
                  </a:rPr>
                  <a:t>task_id)</a:t>
                </a:r>
              </a:p>
              <a:p>
                <a:pPr marL="0" indent="0">
                  <a:buNone/>
                </a:pPr>
                <a:endParaRPr lang="vi-VN" sz="700" dirty="0"/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TII loss tối ưu hóa task classification,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KHÔNG phải WTP performance.</a:t>
                </a:r>
              </a:p>
              <a:p>
                <a:pPr marL="0" indent="0">
                  <a:buNone/>
                </a:pPr>
                <a:endParaRPr lang="vi-VN" sz="700" dirty="0"/>
              </a:p>
              <a:p>
                <a:pPr marL="0" indent="0">
                  <a:buNone/>
                </a:pPr>
                <a:r>
                  <a:rPr lang="vi-VN" sz="1100" b="1" dirty="0">
                    <a:solidFill>
                      <a:srgbClr val="374151"/>
                    </a:solidFill>
                    <a:latin typeface="Calibri"/>
                  </a:rPr>
                  <a:t>Hệ quả: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7F1D1D"/>
                    </a:solidFill>
                    <a:latin typeface="Calibri"/>
                  </a:rPr>
                  <a:t>Phân biệt task tốt ≠ chọn prompt tốt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7F1D1D"/>
                    </a:solidFill>
                    <a:latin typeface="Calibri"/>
                  </a:rPr>
                  <a:t>cho WTP. Không có guarantee nào liên</a:t>
                </a:r>
              </a:p>
              <a:p>
                <a:pPr marL="0" indent="0">
                  <a:buNone/>
                </a:pPr>
                <a:r>
                  <a:rPr lang="vi-VN" sz="1150" b="1" dirty="0">
                    <a:solidFill>
                      <a:srgbClr val="7F1D1D"/>
                    </a:solidFill>
                    <a:latin typeface="Calibri"/>
                  </a:rPr>
                  <a:t>kết hai mục tiêu này với nhau!</a:t>
                </a:r>
              </a:p>
            </p:txBody>
          </p:sp>
        </mc:Choice>
        <mc:Fallback xmlns="">
          <p:sp>
            <p:nvSpPr>
              <p:cNvPr id="14" name="t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920" y="2187763"/>
                <a:ext cx="4020000" cy="2020000"/>
              </a:xfrm>
              <a:prstGeom prst="rect">
                <a:avLst/>
              </a:prstGeom>
              <a:blipFill>
                <a:blip r:embed="rId4"/>
                <a:stretch>
                  <a:fillRect l="-152" t="-30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b15"/>
          <p:cNvSpPr/>
          <p:nvPr/>
        </p:nvSpPr>
        <p:spPr>
          <a:xfrm>
            <a:off x="4681960" y="2137763"/>
            <a:ext cx="4140000" cy="21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ca15"/>
          <p:cNvSpPr/>
          <p:nvPr/>
        </p:nvSpPr>
        <p:spPr>
          <a:xfrm>
            <a:off x="4681960" y="2137763"/>
            <a:ext cx="56000" cy="2100000"/>
          </a:xfrm>
          <a:prstGeom prst="rect">
            <a:avLst/>
          </a:prstGeom>
          <a:solidFill>
            <a:srgbClr val="EF4444"/>
          </a:solidFill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17"/>
              <p:cNvSpPr/>
              <p:nvPr/>
            </p:nvSpPr>
            <p:spPr>
              <a:xfrm>
                <a:off x="4751920" y="2187763"/>
                <a:ext cx="4020000" cy="2020000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t"/>
              <a:lstStyle/>
              <a:p>
                <a:pPr marL="0" indent="0">
                  <a:buNone/>
                </a:pPr>
                <a:r>
                  <a:rPr lang="vi-VN" sz="1250" b="1" dirty="0">
                    <a:solidFill>
                      <a:srgbClr val="EF4444"/>
                    </a:solidFill>
                    <a:latin typeface="Calibri"/>
                  </a:rPr>
                  <a:t>❌  Vấn đề B — Representation Mismatch</a:t>
                </a:r>
              </a:p>
              <a:p>
                <a:pPr marL="0" indent="0">
                  <a:buNone/>
                </a:pPr>
                <a:endParaRPr lang="vi-VN" sz="700" dirty="0"/>
              </a:p>
              <a:p>
                <a:pPr marL="0" indent="0">
                  <a:buNone/>
                </a:pPr>
                <a:r>
                  <a:rPr lang="vi-VN" sz="1150" b="1" dirty="0">
                    <a:solidFill>
                      <a:srgbClr val="374151"/>
                    </a:solidFill>
                    <a:latin typeface="Calibri"/>
                  </a:rPr>
                  <a:t>TII nhìn vào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50" b="1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50" b="1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1150" b="1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</m:oMath>
                </a14:m>
                <a:r>
                  <a:rPr lang="vi-VN" sz="1150" b="1" dirty="0">
                    <a:solidFill>
                      <a:srgbClr val="374151"/>
                    </a:solidFill>
                    <a:latin typeface="Calibri"/>
                  </a:rPr>
                  <a:t>(x) — uninstructed,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chưa có prompt nào inject vào.</a:t>
                </a:r>
              </a:p>
              <a:p>
                <a:pPr marL="0" indent="0">
                  <a:buNone/>
                </a:pPr>
                <a:endParaRPr lang="vi-VN" sz="700" dirty="0"/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Nhưng WTP cần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(x,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) — instructed,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được hướng dẫn bởi task-specific experts.</a:t>
                </a:r>
              </a:p>
              <a:p>
                <a:pPr marL="0" indent="0">
                  <a:buNone/>
                </a:pPr>
                <a:endParaRPr lang="vi-VN" sz="700" dirty="0"/>
              </a:p>
              <a:p>
                <a:pPr marL="0" indent="0">
                  <a:buNone/>
                </a:pPr>
                <a:r>
                  <a:rPr lang="vi-VN" sz="1100" b="1" dirty="0">
                    <a:solidFill>
                      <a:srgbClr val="374151"/>
                    </a:solidFill>
                    <a:latin typeface="Calibri"/>
                  </a:rPr>
                  <a:t>Mâu thuẫn logic: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7F1D1D"/>
                    </a:solidFill>
                    <a:latin typeface="Calibri"/>
                  </a:rPr>
                  <a:t>Muốn chọn prompt tốt nhất cho WTP,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7F1D1D"/>
                    </a:solidFill>
                    <a:latin typeface="Calibri"/>
                  </a:rPr>
                  <a:t>nhưng lại quyết định từ representation</a:t>
                </a:r>
              </a:p>
              <a:p>
                <a:pPr marL="0" indent="0">
                  <a:buNone/>
                </a:pPr>
                <a:r>
                  <a:rPr lang="vi-VN" sz="1150" b="1" dirty="0">
                    <a:solidFill>
                      <a:srgbClr val="7F1D1D"/>
                    </a:solidFill>
                    <a:latin typeface="Calibri"/>
                  </a:rPr>
                  <a:t>CHƯA có prompt nào!</a:t>
                </a:r>
              </a:p>
            </p:txBody>
          </p:sp>
        </mc:Choice>
        <mc:Fallback xmlns="">
          <p:sp>
            <p:nvSpPr>
              <p:cNvPr id="17" name="t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1920" y="2187763"/>
                <a:ext cx="4020000" cy="2020000"/>
              </a:xfrm>
              <a:prstGeom prst="rect">
                <a:avLst/>
              </a:prstGeom>
              <a:blipFill>
                <a:blip r:embed="rId5"/>
                <a:stretch>
                  <a:fillRect l="-152" t="-30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fb18"/>
          <p:cNvSpPr/>
          <p:nvPr/>
        </p:nvSpPr>
        <p:spPr>
          <a:xfrm>
            <a:off x="318040" y="4359395"/>
            <a:ext cx="8503920" cy="422275"/>
          </a:xfrm>
          <a:prstGeom prst="rect">
            <a:avLst/>
          </a:prstGeom>
          <a:solidFill>
            <a:srgbClr val="FFF1F2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19"/>
              <p:cNvSpPr/>
              <p:nvPr/>
            </p:nvSpPr>
            <p:spPr>
              <a:xfrm>
                <a:off x="388000" y="4369396"/>
                <a:ext cx="8360000" cy="360000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t"/>
              <a:lstStyle/>
              <a:p>
                <a:pPr marL="0" indent="0">
                  <a:buNone/>
                </a:pPr>
                <a:r>
                  <a:rPr lang="vi-VN" sz="1200" b="1" dirty="0">
                    <a:solidFill>
                      <a:srgbClr val="BE123C"/>
                    </a:solidFill>
                    <a:latin typeface="Calibri"/>
                  </a:rPr>
                  <a:t>💥  </a:t>
                </a:r>
                <a:r>
                  <a:rPr lang="en-US" sz="1200" b="1" dirty="0" err="1">
                    <a:solidFill>
                      <a:srgbClr val="BE123C"/>
                    </a:solidFill>
                    <a:latin typeface="Calibri"/>
                  </a:rPr>
                  <a:t>Sự</a:t>
                </a:r>
                <a:r>
                  <a:rPr lang="en-US" sz="1200" b="1" dirty="0">
                    <a:solidFill>
                      <a:srgbClr val="BE123C"/>
                    </a:solidFill>
                    <a:latin typeface="Calibri"/>
                  </a:rPr>
                  <a:t> </a:t>
                </a:r>
                <a:r>
                  <a:rPr lang="en-US" sz="1200" b="1" dirty="0" err="1">
                    <a:solidFill>
                      <a:srgbClr val="BE123C"/>
                    </a:solidFill>
                    <a:latin typeface="Calibri"/>
                  </a:rPr>
                  <a:t>cố</a:t>
                </a:r>
                <a:r>
                  <a:rPr lang="en-US" sz="1200" b="1" dirty="0">
                    <a:solidFill>
                      <a:srgbClr val="BE123C"/>
                    </a:solidFill>
                    <a:latin typeface="Calibri"/>
                  </a:rPr>
                  <a:t> </a:t>
                </a:r>
                <a:r>
                  <a:rPr lang="en-US" sz="1200" b="1" dirty="0" err="1">
                    <a:solidFill>
                      <a:srgbClr val="BE123C"/>
                    </a:solidFill>
                    <a:latin typeface="Calibri"/>
                  </a:rPr>
                  <a:t>dây</a:t>
                </a:r>
                <a:r>
                  <a:rPr lang="en-US" sz="1200" b="1" dirty="0">
                    <a:solidFill>
                      <a:srgbClr val="BE123C"/>
                    </a:solidFill>
                    <a:latin typeface="Calibri"/>
                  </a:rPr>
                  <a:t> </a:t>
                </a:r>
                <a:r>
                  <a:rPr lang="en-US" sz="1200" b="1" dirty="0" err="1">
                    <a:solidFill>
                      <a:srgbClr val="BE123C"/>
                    </a:solidFill>
                    <a:latin typeface="Calibri"/>
                  </a:rPr>
                  <a:t>chuyền</a:t>
                </a:r>
                <a:r>
                  <a:rPr lang="vi-VN" sz="1200" b="1" dirty="0">
                    <a:solidFill>
                      <a:srgbClr val="BE123C"/>
                    </a:solidFill>
                    <a:latin typeface="Calibri"/>
                  </a:rPr>
                  <a:t>: TII error (Vấn đề A + B) → sai prompt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smtClean="0">
                            <a:solidFill>
                              <a:srgbClr val="BE123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solidFill>
                              <a:srgbClr val="BE123C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sz="1200" b="1" i="1" smtClean="0">
                            <a:solidFill>
                              <a:srgbClr val="BE123C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sz="1200" b="1" i="1" smtClean="0">
                            <a:solidFill>
                              <a:srgbClr val="BE123C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vi-VN" sz="1200" b="1" dirty="0">
                    <a:solidFill>
                      <a:srgbClr val="BE123C"/>
                    </a:solidFill>
                    <a:latin typeface="Calibri"/>
                  </a:rPr>
                  <a:t>→ WTP mặc dù tốt nhưng nhận input sai task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7F1D1D"/>
                    </a:solidFill>
                    <a:latin typeface="Calibri"/>
                  </a:rPr>
                  <a:t>→ Final accuracy thấp. Gap giữa Oracle TII và actual TII đo đúng mức độ thiệt hại này — paper CHƯA report con số này!</a:t>
                </a:r>
              </a:p>
            </p:txBody>
          </p:sp>
        </mc:Choice>
        <mc:Fallback xmlns="">
          <p:sp>
            <p:nvSpPr>
              <p:cNvPr id="19" name="t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000" y="4369396"/>
                <a:ext cx="8360000" cy="360000"/>
              </a:xfrm>
              <a:prstGeom prst="rect">
                <a:avLst/>
              </a:prstGeom>
              <a:blipFill>
                <a:blip r:embed="rId6"/>
                <a:stretch>
                  <a:fillRect l="-73" t="-3390" b="-3389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2B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b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558"/>
          </a:solidFill>
        </p:spPr>
        <p:txBody>
          <a:bodyPr/>
          <a:lstStyle/>
          <a:p>
            <a:endParaRPr/>
          </a:p>
        </p:txBody>
      </p:sp>
      <p:sp>
        <p:nvSpPr>
          <p:cNvPr id="3" name="ha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/>
          </a:p>
        </p:txBody>
      </p:sp>
      <p:sp>
        <p:nvSpPr>
          <p:cNvPr id="4" name="ht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vi-VN" sz="2200" b="1" dirty="0">
                <a:solidFill>
                  <a:srgbClr val="FFFFFF"/>
                </a:solidFill>
                <a:latin typeface="Calibri"/>
              </a:rPr>
              <a:t>Định hướng 2</a:t>
            </a:r>
            <a:r>
              <a:rPr lang="en-US"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vi-VN" sz="2200" b="1" dirty="0">
                <a:solidFill>
                  <a:srgbClr val="FFFFFF"/>
                </a:solidFill>
                <a:latin typeface="Calibri"/>
              </a:rPr>
              <a:t>— Insight: Tại sao Gate Score có thể làm TII?</a:t>
            </a:r>
          </a:p>
        </p:txBody>
      </p:sp>
      <p:sp>
        <p:nvSpPr>
          <p:cNvPr id="5" name="fb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558"/>
          </a:solidFill>
        </p:spPr>
        <p:txBody>
          <a:bodyPr/>
          <a:lstStyle/>
          <a:p>
            <a:endParaRPr/>
          </a:p>
        </p:txBody>
      </p:sp>
      <p:sp>
        <p:nvSpPr>
          <p:cNvPr id="6" name="ft"/>
          <p:cNvSpPr/>
          <p:nvPr/>
        </p:nvSpPr>
        <p:spPr>
          <a:xfrm>
            <a:off x="274320" y="488718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BB8FF"/>
                </a:solidFill>
                <a:latin typeface="Calibri"/>
              </a:rPr>
              <a:t>NoRGa — NeurIPS 2024  |  Lưu Hải Đăng</a:t>
            </a:r>
          </a:p>
        </p:txBody>
      </p:sp>
      <p:sp>
        <p:nvSpPr>
          <p:cNvPr id="7" name="cb7"/>
          <p:cNvSpPr/>
          <p:nvPr/>
        </p:nvSpPr>
        <p:spPr>
          <a:xfrm>
            <a:off x="320040" y="720000"/>
            <a:ext cx="8503920" cy="8734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ca7"/>
          <p:cNvSpPr/>
          <p:nvPr/>
        </p:nvSpPr>
        <p:spPr>
          <a:xfrm>
            <a:off x="330320" y="720000"/>
            <a:ext cx="45719" cy="873424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9"/>
              <p:cNvSpPr/>
              <p:nvPr/>
            </p:nvSpPr>
            <p:spPr>
              <a:xfrm>
                <a:off x="390000" y="683424"/>
                <a:ext cx="8360000" cy="886576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t"/>
              <a:lstStyle/>
              <a:p>
                <a:pPr marL="0" indent="0">
                  <a:buNone/>
                </a:pPr>
                <a:r>
                  <a:rPr lang="vi-VN" sz="1200" b="1" dirty="0">
                    <a:solidFill>
                      <a:srgbClr val="92400E"/>
                    </a:solidFill>
                    <a:latin typeface="Calibri"/>
                  </a:rPr>
                  <a:t>Từ Equation (15) của bài báo — NoRGa gate score của prefix token j với input token i:</a:t>
                </a:r>
              </a:p>
              <a:p>
                <a:pPr marL="0" indent="0">
                  <a:buNone/>
                </a:pPr>
                <a:endParaRPr lang="en-US" sz="700" dirty="0"/>
              </a:p>
              <a:p>
                <a:pPr marL="0" indent="0">
                  <a:buNone/>
                </a:pPr>
                <a:endParaRPr lang="vi-VN" sz="700" dirty="0"/>
              </a:p>
              <a:p>
                <a:pPr marL="0" indent="0">
                  <a:buNone/>
                </a:pPr>
                <a:endParaRPr lang="en-US" sz="700" dirty="0"/>
              </a:p>
              <a:p>
                <a:pPr marL="0" indent="0">
                  <a:buNone/>
                </a:pPr>
                <a:endParaRPr lang="vi-VN" sz="700" dirty="0"/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374151"/>
                    </a:solidFill>
                    <a:latin typeface="Calibri"/>
                  </a:rPr>
                  <a:t>→ Đây là inner product giữa INPUT QUERY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100" dirty="0">
                    <a:solidFill>
                      <a:srgbClr val="374151"/>
                    </a:solidFill>
                    <a:latin typeface="Calibri"/>
                  </a:rPr>
                  <a:t> </a:t>
                </a:r>
                <a:r>
                  <a:rPr lang="vi-VN" sz="1100" dirty="0">
                    <a:solidFill>
                      <a:srgbClr val="374151"/>
                    </a:solidFill>
                    <a:latin typeface="Calibri"/>
                  </a:rPr>
                  <a:t>qua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1100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p>
                  </m:oMath>
                </a14:m>
                <a:r>
                  <a:rPr lang="vi-VN" sz="1100" dirty="0">
                    <a:solidFill>
                      <a:srgbClr val="374151"/>
                    </a:solidFill>
                    <a:latin typeface="Calibri"/>
                  </a:rPr>
                  <a:t>) và PREFIX KEY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100" b="0" i="1" smtClean="0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100" b="0" i="1" smtClean="0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1100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sz="1100" dirty="0">
                    <a:solidFill>
                      <a:srgbClr val="374151"/>
                    </a:solidFill>
                    <a:latin typeface="Calibri"/>
                  </a:rPr>
                  <a:t> </a:t>
                </a:r>
                <a:r>
                  <a:rPr lang="vi-VN" sz="1100" dirty="0">
                    <a:solidFill>
                      <a:srgbClr val="374151"/>
                    </a:solidFill>
                    <a:latin typeface="Calibri"/>
                  </a:rPr>
                  <a:t>qua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1100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vi-VN" sz="1100" dirty="0">
                    <a:solidFill>
                      <a:srgbClr val="374151"/>
                    </a:solidFill>
                    <a:latin typeface="Calibri"/>
                  </a:rPr>
                  <a:t>) — cộng thêm non-linear term từ NoRGa</a:t>
                </a:r>
              </a:p>
            </p:txBody>
          </p:sp>
        </mc:Choice>
        <mc:Fallback xmlns="">
          <p:sp>
            <p:nvSpPr>
              <p:cNvPr id="9" name="t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00" y="683424"/>
                <a:ext cx="8360000" cy="886576"/>
              </a:xfrm>
              <a:prstGeom prst="rect">
                <a:avLst/>
              </a:prstGeom>
              <a:blipFill>
                <a:blip r:embed="rId2"/>
                <a:stretch>
                  <a:fillRect l="-73" b="-274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b10"/>
          <p:cNvSpPr/>
          <p:nvPr/>
        </p:nvSpPr>
        <p:spPr>
          <a:xfrm>
            <a:off x="320040" y="1630000"/>
            <a:ext cx="4140000" cy="17408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ca10"/>
          <p:cNvSpPr/>
          <p:nvPr/>
        </p:nvSpPr>
        <p:spPr>
          <a:xfrm>
            <a:off x="330320" y="1630000"/>
            <a:ext cx="45719" cy="1740820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12"/>
              <p:cNvSpPr/>
              <p:nvPr/>
            </p:nvSpPr>
            <p:spPr>
              <a:xfrm>
                <a:off x="390000" y="1680000"/>
                <a:ext cx="4020000" cy="1840000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t"/>
              <a:lstStyle/>
              <a:p>
                <a:pPr marL="0" indent="0">
                  <a:buNone/>
                </a:pPr>
                <a:r>
                  <a:rPr lang="vi-VN" sz="1250" b="1" dirty="0">
                    <a:solidFill>
                      <a:srgbClr val="92400E"/>
                    </a:solidFill>
                    <a:latin typeface="Calibri"/>
                  </a:rPr>
                  <a:t>Ý nghĩa của gate score:</a:t>
                </a:r>
              </a:p>
              <a:p>
                <a:pPr marL="0" indent="0">
                  <a:buNone/>
                </a:pPr>
                <a:endParaRPr lang="vi-VN" sz="700" dirty="0"/>
              </a:p>
              <a:p>
                <a:pPr marL="0" indent="0">
                  <a:buNone/>
                </a:pPr>
                <a:r>
                  <a:rPr lang="vi-VN" sz="1150" b="1" dirty="0">
                    <a:solidFill>
                      <a:srgbClr val="374151"/>
                    </a:solidFill>
                    <a:latin typeface="Calibri"/>
                  </a:rPr>
                  <a:t>Score CAO khi nào?</a:t>
                </a:r>
              </a:p>
              <a:p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Khi query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100" dirty="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align TỐT với prefix key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100" i="1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100" i="1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1100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sz="1100" dirty="0">
                    <a:solidFill>
                      <a:srgbClr val="374151"/>
                    </a:solidFill>
                  </a:rPr>
                  <a:t> </a:t>
                </a:r>
              </a:p>
              <a:p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→ xảy ra khi x thuộc task t mà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100" i="1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100" i="1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1100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sz="1100" dirty="0">
                    <a:solidFill>
                      <a:srgbClr val="374151"/>
                    </a:solidFill>
                  </a:rPr>
                  <a:t> </a:t>
                </a: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được</a:t>
                </a:r>
              </a:p>
              <a:p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   train để </a:t>
                </a:r>
                <a:r>
                  <a:rPr lang="en-US" sz="1100" dirty="0" err="1">
                    <a:solidFill>
                      <a:srgbClr val="1E293B"/>
                    </a:solidFill>
                    <a:latin typeface="Calibri"/>
                  </a:rPr>
                  <a:t>tương</a:t>
                </a:r>
                <a:r>
                  <a:rPr lang="en-US" sz="1100" dirty="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en-US" sz="1100" dirty="0" err="1">
                    <a:solidFill>
                      <a:srgbClr val="1E293B"/>
                    </a:solidFill>
                    <a:latin typeface="Calibri"/>
                  </a:rPr>
                  <a:t>thích</a:t>
                </a: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 (vì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100" i="1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100" b="0" i="1" smtClean="0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  <m:sup>
                        <m:r>
                          <a:rPr lang="en-US" sz="1100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sz="1100" dirty="0">
                    <a:solidFill>
                      <a:srgbClr val="374151"/>
                    </a:solidFill>
                  </a:rPr>
                  <a:t> </a:t>
                </a: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tối ưu cho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)</a:t>
                </a:r>
                <a:endParaRPr lang="en-US" sz="1100" dirty="0">
                  <a:solidFill>
                    <a:srgbClr val="1E293B"/>
                  </a:solidFill>
                  <a:latin typeface="Calibri"/>
                </a:endParaRPr>
              </a:p>
              <a:p>
                <a:endParaRPr lang="vi-VN" sz="700" dirty="0"/>
              </a:p>
              <a:p>
                <a:pPr marL="0" indent="0">
                  <a:buNone/>
                </a:pPr>
                <a:r>
                  <a:rPr lang="vi-VN" sz="1150" b="1" dirty="0">
                    <a:solidFill>
                      <a:srgbClr val="374151"/>
                    </a:solidFill>
                    <a:latin typeface="Calibri"/>
                  </a:rPr>
                  <a:t>Score THẤP khi nào?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Khi x thuộc task khác → queries không align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với prefix keys của task t → score nhỏ</a:t>
                </a:r>
              </a:p>
            </p:txBody>
          </p:sp>
        </mc:Choice>
        <mc:Fallback xmlns="">
          <p:sp>
            <p:nvSpPr>
              <p:cNvPr id="12" name="t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00" y="1680000"/>
                <a:ext cx="4020000" cy="1840000"/>
              </a:xfrm>
              <a:prstGeom prst="rect">
                <a:avLst/>
              </a:prstGeom>
              <a:blipFill>
                <a:blip r:embed="rId3"/>
                <a:stretch>
                  <a:fillRect l="-152" t="-33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b13"/>
          <p:cNvSpPr/>
          <p:nvPr/>
        </p:nvSpPr>
        <p:spPr>
          <a:xfrm>
            <a:off x="4684040" y="1630000"/>
            <a:ext cx="4140000" cy="17408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ca13"/>
          <p:cNvSpPr/>
          <p:nvPr/>
        </p:nvSpPr>
        <p:spPr>
          <a:xfrm>
            <a:off x="4683962" y="1630000"/>
            <a:ext cx="56078" cy="1740820"/>
          </a:xfrm>
          <a:prstGeom prst="rect">
            <a:avLst/>
          </a:prstGeom>
          <a:solidFill>
            <a:srgbClr val="059669"/>
          </a:solidFill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15"/>
              <p:cNvSpPr/>
              <p:nvPr/>
            </p:nvSpPr>
            <p:spPr>
              <a:xfrm>
                <a:off x="4754000" y="1680000"/>
                <a:ext cx="4020000" cy="1840000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t"/>
              <a:lstStyle/>
              <a:p>
                <a:pPr marL="0" indent="0">
                  <a:buNone/>
                </a:pPr>
                <a:r>
                  <a:rPr lang="vi-VN" sz="1250" b="1" dirty="0">
                    <a:solidFill>
                      <a:srgbClr val="059669"/>
                    </a:solidFill>
                    <a:latin typeface="Calibri"/>
                  </a:rPr>
                  <a:t>Kết nối với TII:</a:t>
                </a:r>
              </a:p>
              <a:p>
                <a:pPr marL="0" indent="0">
                  <a:buNone/>
                </a:pPr>
                <a:endParaRPr lang="vi-VN" sz="700" dirty="0"/>
              </a:p>
              <a:p>
                <a:pPr marL="0" indent="0">
                  <a:buNone/>
                </a:pPr>
                <a:r>
                  <a:rPr lang="vi-VN" sz="1150" b="1" dirty="0">
                    <a:solidFill>
                      <a:srgbClr val="374151"/>
                    </a:solidFill>
                    <a:latin typeface="Calibri"/>
                  </a:rPr>
                  <a:t>TII cần biết: x thuộc task t nào?</a:t>
                </a:r>
              </a:p>
              <a:p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Gate score biết: x align với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100" i="1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100" i="1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1100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sz="1100" dirty="0">
                    <a:solidFill>
                      <a:srgbClr val="374151"/>
                    </a:solidFill>
                  </a:rPr>
                  <a:t> </a:t>
                </a: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?</a:t>
                </a:r>
                <a:endParaRPr lang="en-US" sz="1100" dirty="0">
                  <a:solidFill>
                    <a:srgbClr val="1E293B"/>
                  </a:solidFill>
                  <a:latin typeface="Calibri"/>
                </a:endParaRPr>
              </a:p>
              <a:p>
                <a:endParaRPr lang="vi-VN" sz="700" dirty="0"/>
              </a:p>
              <a:p>
                <a:pPr marL="0" indent="0">
                  <a:buNone/>
                </a:pPr>
                <a:r>
                  <a:rPr lang="vi-VN" sz="1200" b="1" dirty="0">
                    <a:solidFill>
                      <a:srgbClr val="065F46"/>
                    </a:solidFill>
                    <a:latin typeface="Calibri"/>
                  </a:rPr>
                  <a:t>Hai câu hỏi này TƯƠNG ĐƯƠNG nhau!</a:t>
                </a:r>
              </a:p>
              <a:p>
                <a:pPr marL="0" indent="0">
                  <a:buNone/>
                </a:pPr>
                <a:endParaRPr lang="vi-VN" sz="700" dirty="0"/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→ Aggregate gate scores qua layers và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   prefix tokens → task affinity score</a:t>
                </a:r>
              </a:p>
              <a:p>
                <a:pPr marL="0" indent="0">
                  <a:buNone/>
                </a:pPr>
                <a:r>
                  <a:rPr lang="vi-VN" sz="1150" b="1" dirty="0">
                    <a:solidFill>
                      <a:srgbClr val="065F46"/>
                    </a:solidFill>
                    <a:latin typeface="Calibri"/>
                  </a:rPr>
                  <a:t>→ Dùng THAY cho hˆω — không cần train!</a:t>
                </a:r>
              </a:p>
            </p:txBody>
          </p:sp>
        </mc:Choice>
        <mc:Fallback xmlns="">
          <p:sp>
            <p:nvSpPr>
              <p:cNvPr id="15" name="t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000" y="1680000"/>
                <a:ext cx="4020000" cy="1840000"/>
              </a:xfrm>
              <a:prstGeom prst="rect">
                <a:avLst/>
              </a:prstGeom>
              <a:blipFill>
                <a:blip r:embed="rId4"/>
                <a:stretch>
                  <a:fillRect l="-152" t="-33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b16"/>
          <p:cNvSpPr/>
          <p:nvPr/>
        </p:nvSpPr>
        <p:spPr>
          <a:xfrm>
            <a:off x="320040" y="3451520"/>
            <a:ext cx="8503920" cy="8029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ca16"/>
          <p:cNvSpPr/>
          <p:nvPr/>
        </p:nvSpPr>
        <p:spPr>
          <a:xfrm>
            <a:off x="320040" y="3451520"/>
            <a:ext cx="55999" cy="802980"/>
          </a:xfrm>
          <a:prstGeom prst="rect">
            <a:avLst/>
          </a:prstGeom>
          <a:solidFill>
            <a:srgbClr val="2563EB"/>
          </a:solidFill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18"/>
              <p:cNvSpPr/>
              <p:nvPr/>
            </p:nvSpPr>
            <p:spPr>
              <a:xfrm>
                <a:off x="390000" y="3491520"/>
                <a:ext cx="8360000" cy="690000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t"/>
              <a:lstStyle/>
              <a:p>
                <a:pPr marL="0" indent="0">
                  <a:buNone/>
                </a:pPr>
                <a:r>
                  <a:rPr lang="vi-VN" sz="1250" b="1" dirty="0">
                    <a:solidFill>
                      <a:srgbClr val="2563EB"/>
                    </a:solidFill>
                    <a:latin typeface="Calibri"/>
                  </a:rPr>
                  <a:t>Tại sao gate score tốt hơn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250" b="1" i="1" smtClean="0">
                            <a:solidFill>
                              <a:srgbClr val="2563EB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250" b="1" i="1" smtClean="0">
                                <a:solidFill>
                                  <a:srgbClr val="2563E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50" b="1" i="1" smtClean="0">
                                <a:solidFill>
                                  <a:srgbClr val="2563EB"/>
                                </a:solidFill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sz="1250" b="1" i="1" smtClean="0">
                                <a:solidFill>
                                  <a:srgbClr val="2563EB"/>
                                </a:solidFill>
                                <a:latin typeface="Cambria Math" panose="02040503050406030204" pitchFamily="18" charset="0"/>
                              </a:rPr>
                              <m:t>𝝎</m:t>
                            </m:r>
                          </m:sub>
                        </m:sSub>
                      </m:e>
                    </m:acc>
                  </m:oMath>
                </a14:m>
                <a:r>
                  <a:rPr lang="vi-VN" sz="1250" b="1" dirty="0">
                    <a:solidFill>
                      <a:srgbClr val="2563EB"/>
                    </a:solidFill>
                    <a:latin typeface="Calibri"/>
                  </a:rPr>
                  <a:t> về lý thuyết?</a:t>
                </a:r>
                <a:endParaRPr lang="en-US" sz="1250" b="1" dirty="0">
                  <a:solidFill>
                    <a:srgbClr val="2563EB"/>
                  </a:solidFill>
                  <a:latin typeface="Calibri"/>
                </a:endParaRPr>
              </a:p>
              <a:p>
                <a:pPr marL="0" indent="0">
                  <a:buNone/>
                </a:pPr>
                <a:endParaRPr lang="vi-VN" sz="7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100" b="0" i="1" smtClean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100" b="0" i="1" smtClean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1100" dirty="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→  trained with TII loss → minimize task classification error → NO guarantee WTP alignment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065F46"/>
                    </a:solidFill>
                    <a:latin typeface="Calibri"/>
                  </a:rPr>
                  <a:t>Gate score  →  directly measures query-key alignment → high score IFF WTP will use this prompt well → DIRECT alignment!</a:t>
                </a:r>
              </a:p>
            </p:txBody>
          </p:sp>
        </mc:Choice>
        <mc:Fallback xmlns="">
          <p:sp>
            <p:nvSpPr>
              <p:cNvPr id="18" name="t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00" y="3491520"/>
                <a:ext cx="8360000" cy="690000"/>
              </a:xfrm>
              <a:prstGeom prst="rect">
                <a:avLst/>
              </a:prstGeom>
              <a:blipFill>
                <a:blip r:embed="rId5"/>
                <a:stretch>
                  <a:fillRect l="-73" t="-1770" b="-1415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b19"/>
          <p:cNvSpPr/>
          <p:nvPr/>
        </p:nvSpPr>
        <p:spPr>
          <a:xfrm>
            <a:off x="318040" y="4332154"/>
            <a:ext cx="8503920" cy="426649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20"/>
              <p:cNvSpPr/>
              <p:nvPr/>
            </p:nvSpPr>
            <p:spPr>
              <a:xfrm>
                <a:off x="318040" y="4332154"/>
                <a:ext cx="8431960" cy="300779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t"/>
              <a:lstStyle/>
              <a:p>
                <a:pPr marL="0" indent="0">
                  <a:buNone/>
                </a:pPr>
                <a:r>
                  <a:rPr lang="vi-VN" sz="1100" b="1" dirty="0">
                    <a:solidFill>
                      <a:srgbClr val="1D4ED8"/>
                    </a:solidFill>
                    <a:latin typeface="Calibri"/>
                  </a:rPr>
                  <a:t>⭐  Definition 4.2 (Algebraic Independence) đảm bảo gate score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1" smtClean="0">
                            <a:solidFill>
                              <a:srgbClr val="1D4ED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100" b="1" i="1" smtClean="0">
                                <a:solidFill>
                                  <a:srgbClr val="1D4ED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100" b="1" i="1" smtClean="0">
                                <a:solidFill>
                                  <a:srgbClr val="1D4ED8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</m:acc>
                      </m:e>
                      <m:sub>
                        <m:r>
                          <a:rPr lang="en-US" sz="1100" b="1" i="1" smtClean="0">
                            <a:solidFill>
                              <a:srgbClr val="1D4ED8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1100" b="1" i="1" smtClean="0">
                            <a:solidFill>
                              <a:srgbClr val="1D4ED8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100" b="1" i="1" smtClean="0">
                            <a:solidFill>
                              <a:srgbClr val="1D4ED8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sz="1100" b="1" i="1" smtClean="0">
                            <a:solidFill>
                              <a:srgbClr val="1D4ED8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100" b="1" i="1" smtClean="0">
                            <a:solidFill>
                              <a:srgbClr val="1D4ED8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1100" b="1" dirty="0">
                    <a:solidFill>
                      <a:srgbClr val="1D4ED8"/>
                    </a:solidFill>
                    <a:latin typeface="Calibri"/>
                  </a:rPr>
                  <a:t> </a:t>
                </a:r>
                <a:r>
                  <a:rPr lang="vi-VN" sz="1100" b="1" dirty="0">
                    <a:solidFill>
                      <a:srgbClr val="1D4ED8"/>
                    </a:solidFill>
                    <a:latin typeface="Calibri"/>
                  </a:rPr>
                  <a:t>là IDENTIFIABLE → consistent estimator của true alignment </a:t>
                </a:r>
                <a14:m>
                  <m:oMath xmlns:m="http://schemas.openxmlformats.org/officeDocument/2006/math">
                    <m:r>
                      <a:rPr lang="en-US" sz="1100" b="1" i="1" smtClean="0">
                        <a:solidFill>
                          <a:srgbClr val="1D4ED8"/>
                        </a:solidFill>
                        <a:latin typeface="Cambria Math" panose="02040503050406030204" pitchFamily="18" charset="0"/>
                      </a:rPr>
                      <m:t>𝜷</m:t>
                    </m:r>
                    <m:sSub>
                      <m:sSubPr>
                        <m:ctrlPr>
                          <a:rPr lang="en-US" sz="1100" b="1" i="1" smtClean="0">
                            <a:solidFill>
                              <a:srgbClr val="1D4ED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1" smtClean="0">
                            <a:solidFill>
                              <a:srgbClr val="1D4ED8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  <m:sub>
                        <m:r>
                          <a:rPr lang="en-US" sz="1100" b="1" i="1" smtClean="0">
                            <a:solidFill>
                              <a:srgbClr val="1D4ED8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sSup>
                          <m:sSupPr>
                            <m:ctrlPr>
                              <a:rPr lang="en-US" sz="1100" b="1" i="1" smtClean="0">
                                <a:solidFill>
                                  <a:srgbClr val="1D4ED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100" b="1" i="1" smtClean="0">
                                <a:solidFill>
                                  <a:srgbClr val="1D4ED8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e>
                          <m:sup>
                            <m:r>
                              <a:rPr lang="en-US" sz="1100" b="1" i="1" smtClean="0">
                                <a:solidFill>
                                  <a:srgbClr val="1D4ED8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endParaRPr lang="vi-VN" sz="1100" b="1" dirty="0">
                  <a:solidFill>
                    <a:srgbClr val="1D4ED8"/>
                  </a:solidFill>
                  <a:latin typeface="Calibri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05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050" i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50" i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050" i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1050" dirty="0">
                    <a:solidFill>
                      <a:srgbClr val="1E293B"/>
                    </a:solidFill>
                  </a:rPr>
                  <a:t>  </a:t>
                </a:r>
                <a:r>
                  <a:rPr lang="vi-VN" sz="1050" dirty="0">
                    <a:solidFill>
                      <a:srgbClr val="374151"/>
                    </a:solidFill>
                    <a:latin typeface="Calibri"/>
                  </a:rPr>
                  <a:t>không có guarantee tương đương — chỉ được đảm bảo hội tụ trên TII classification loss.</a:t>
                </a:r>
              </a:p>
            </p:txBody>
          </p:sp>
        </mc:Choice>
        <mc:Fallback xmlns="">
          <p:sp>
            <p:nvSpPr>
              <p:cNvPr id="20" name="t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040" y="4332154"/>
                <a:ext cx="8431960" cy="300779"/>
              </a:xfrm>
              <a:prstGeom prst="rect">
                <a:avLst/>
              </a:prstGeom>
              <a:blipFill>
                <a:blip r:embed="rId6"/>
                <a:stretch>
                  <a:fillRect t="-2041" b="-6326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4EEEADB3-BC77-DBAE-C904-676EFEF7F5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6658" y="921196"/>
            <a:ext cx="4468140" cy="40483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2C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b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558"/>
          </a:solidFill>
        </p:spPr>
        <p:txBody>
          <a:bodyPr/>
          <a:lstStyle/>
          <a:p>
            <a:endParaRPr/>
          </a:p>
        </p:txBody>
      </p:sp>
      <p:sp>
        <p:nvSpPr>
          <p:cNvPr id="3" name="ha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/>
          </a:p>
        </p:txBody>
      </p:sp>
      <p:sp>
        <p:nvSpPr>
          <p:cNvPr id="4" name="ht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vi-VN" sz="2200" b="1" dirty="0">
                <a:solidFill>
                  <a:srgbClr val="FFFFFF"/>
                </a:solidFill>
                <a:latin typeface="Calibri"/>
              </a:rPr>
              <a:t>Định hướng 2 — Cơ chế Đề xuất: 2-Stage Gate Score TII</a:t>
            </a:r>
          </a:p>
        </p:txBody>
      </p:sp>
      <p:sp>
        <p:nvSpPr>
          <p:cNvPr id="5" name="fb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558"/>
          </a:solidFill>
        </p:spPr>
        <p:txBody>
          <a:bodyPr/>
          <a:lstStyle/>
          <a:p>
            <a:endParaRPr/>
          </a:p>
        </p:txBody>
      </p:sp>
      <p:sp>
        <p:nvSpPr>
          <p:cNvPr id="6" name="ft"/>
          <p:cNvSpPr/>
          <p:nvPr/>
        </p:nvSpPr>
        <p:spPr>
          <a:xfrm>
            <a:off x="274320" y="488718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BB8FF"/>
                </a:solidFill>
                <a:latin typeface="Calibri"/>
              </a:rPr>
              <a:t>NoRGa — NeurIPS 2024  |  Lưu Hải Đăng</a:t>
            </a:r>
          </a:p>
        </p:txBody>
      </p:sp>
      <p:sp>
        <p:nvSpPr>
          <p:cNvPr id="7" name="cb7"/>
          <p:cNvSpPr/>
          <p:nvPr/>
        </p:nvSpPr>
        <p:spPr>
          <a:xfrm>
            <a:off x="320040" y="720000"/>
            <a:ext cx="8503920" cy="9337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ca7"/>
          <p:cNvSpPr/>
          <p:nvPr/>
        </p:nvSpPr>
        <p:spPr>
          <a:xfrm>
            <a:off x="330320" y="720000"/>
            <a:ext cx="59680" cy="933736"/>
          </a:xfrm>
          <a:prstGeom prst="rect">
            <a:avLst/>
          </a:prstGeom>
          <a:solidFill>
            <a:srgbClr val="0EA5E9"/>
          </a:solidFill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9"/>
              <p:cNvSpPr/>
              <p:nvPr/>
            </p:nvSpPr>
            <p:spPr>
              <a:xfrm>
                <a:off x="390000" y="760000"/>
                <a:ext cx="8360000" cy="820000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t"/>
              <a:lstStyle/>
              <a:p>
                <a:pPr marL="0" indent="0">
                  <a:buNone/>
                </a:pPr>
                <a:r>
                  <a:rPr lang="vi-VN" sz="1250" b="1" dirty="0">
                    <a:solidFill>
                      <a:srgbClr val="0EA5E9"/>
                    </a:solidFill>
                    <a:latin typeface="Calibri"/>
                  </a:rPr>
                  <a:t>Training — Tính Gate Signature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50" b="1" i="1" smtClean="0">
                            <a:solidFill>
                              <a:srgbClr val="0EA5E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50" b="1" i="1" smtClean="0">
                            <a:solidFill>
                              <a:srgbClr val="0EA5E9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en-US" sz="1250" b="1" i="1" smtClean="0">
                            <a:solidFill>
                              <a:srgbClr val="0EA5E9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sz="1250" b="1" dirty="0">
                    <a:solidFill>
                      <a:srgbClr val="0EA5E9"/>
                    </a:solidFill>
                    <a:latin typeface="Calibri"/>
                  </a:rPr>
                  <a:t> </a:t>
                </a:r>
                <a:r>
                  <a:rPr lang="vi-VN" sz="1250" b="1" dirty="0">
                    <a:solidFill>
                      <a:srgbClr val="0EA5E9"/>
                    </a:solidFill>
                    <a:latin typeface="Calibri"/>
                  </a:rPr>
                  <a:t>cho mỗi task t  (thêm vào, không thay đổi WTP training):</a:t>
                </a:r>
              </a:p>
              <a:p>
                <a:pPr marL="0" indent="0">
                  <a:buNone/>
                </a:pPr>
                <a:endParaRPr lang="en-US" sz="700" dirty="0"/>
              </a:p>
              <a:p>
                <a:pPr marL="0" indent="0">
                  <a:buNone/>
                </a:pPr>
                <a:endParaRPr lang="en-US" sz="700" dirty="0"/>
              </a:p>
              <a:p>
                <a:pPr marL="0" indent="0">
                  <a:buNone/>
                </a:pPr>
                <a:endParaRPr lang="en-US" sz="700" dirty="0"/>
              </a:p>
              <a:p>
                <a:pPr marL="0" indent="0">
                  <a:buNone/>
                </a:pPr>
                <a:endParaRPr lang="vi-VN" sz="700" dirty="0"/>
              </a:p>
              <a:p>
                <a:pPr marL="0" indent="0">
                  <a:buNone/>
                </a:pPr>
                <a:r>
                  <a:rPr lang="vi-VN" sz="1050" dirty="0">
                    <a:solidFill>
                      <a:srgbClr val="374151"/>
                    </a:solidFill>
                    <a:latin typeface="Calibri"/>
                  </a:rPr>
                  <a:t>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1050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050" dirty="0">
                    <a:solidFill>
                      <a:srgbClr val="374151"/>
                    </a:solidFill>
                    <a:latin typeface="Calibri"/>
                  </a:rPr>
                  <a:t> </a:t>
                </a:r>
                <a:r>
                  <a:rPr lang="vi-VN" sz="1050" dirty="0">
                    <a:solidFill>
                      <a:srgbClr val="374151"/>
                    </a:solidFill>
                    <a:latin typeface="Calibri"/>
                  </a:rPr>
                  <a:t>là vector trung bình gate activation của task t — 'chữ ký gate'. Chỉ tốn O(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050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050" dirty="0">
                    <a:solidFill>
                      <a:srgbClr val="374151"/>
                    </a:solidFill>
                    <a:latin typeface="Calibri"/>
                  </a:rPr>
                  <a:t> </a:t>
                </a:r>
                <a:r>
                  <a:rPr lang="vi-VN" sz="1050" dirty="0">
                    <a:solidFill>
                      <a:srgbClr val="374151"/>
                    </a:solidFill>
                    <a:latin typeface="Calibri"/>
                  </a:rPr>
                  <a:t>· L) forward, lưu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50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1050" dirty="0">
                    <a:solidFill>
                      <a:srgbClr val="374151"/>
                    </a:solidFill>
                    <a:latin typeface="Calibri"/>
                  </a:rPr>
                  <a:t> </a:t>
                </a:r>
                <a:r>
                  <a:rPr lang="vi-VN" sz="1050" dirty="0">
                    <a:solidFill>
                      <a:srgbClr val="374151"/>
                    </a:solidFill>
                    <a:latin typeface="Calibri"/>
                  </a:rPr>
                  <a:t>/</a:t>
                </a:r>
                <a:r>
                  <a:rPr lang="en-US" sz="1050" dirty="0">
                    <a:solidFill>
                      <a:srgbClr val="374151"/>
                    </a:solidFill>
                    <a:latin typeface="Calibri"/>
                  </a:rPr>
                  <a:t> </a:t>
                </a:r>
                <a:r>
                  <a:rPr lang="vi-VN" sz="1050" dirty="0">
                    <a:solidFill>
                      <a:srgbClr val="374151"/>
                    </a:solidFill>
                    <a:latin typeface="Calibri"/>
                  </a:rPr>
                  <a:t>2 ≈ 10 số</a:t>
                </a:r>
                <a:r>
                  <a:rPr lang="en-US" sz="1050" dirty="0">
                    <a:solidFill>
                      <a:srgbClr val="374151"/>
                    </a:solidFill>
                    <a:latin typeface="Calibri"/>
                  </a:rPr>
                  <a:t> </a:t>
                </a:r>
                <a:r>
                  <a:rPr lang="vi-VN" sz="1050" dirty="0">
                    <a:solidFill>
                      <a:srgbClr val="374151"/>
                    </a:solidFill>
                    <a:latin typeface="Calibri"/>
                  </a:rPr>
                  <a:t>/</a:t>
                </a:r>
                <a:r>
                  <a:rPr lang="en-US" sz="1050" dirty="0">
                    <a:solidFill>
                      <a:srgbClr val="374151"/>
                    </a:solidFill>
                    <a:latin typeface="Calibri"/>
                  </a:rPr>
                  <a:t> </a:t>
                </a:r>
                <a:r>
                  <a:rPr lang="vi-VN" sz="1050" dirty="0">
                    <a:solidFill>
                      <a:srgbClr val="374151"/>
                    </a:solidFill>
                    <a:latin typeface="Calibri"/>
                  </a:rPr>
                  <a:t>task.</a:t>
                </a:r>
              </a:p>
            </p:txBody>
          </p:sp>
        </mc:Choice>
        <mc:Fallback xmlns="">
          <p:sp>
            <p:nvSpPr>
              <p:cNvPr id="9" name="t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00" y="760000"/>
                <a:ext cx="8360000" cy="820000"/>
              </a:xfrm>
              <a:prstGeom prst="rect">
                <a:avLst/>
              </a:prstGeom>
              <a:blipFill>
                <a:blip r:embed="rId2"/>
                <a:stretch>
                  <a:fillRect l="-73" t="-746" b="-1119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b10"/>
          <p:cNvSpPr/>
          <p:nvPr/>
        </p:nvSpPr>
        <p:spPr>
          <a:xfrm>
            <a:off x="319960" y="1747499"/>
            <a:ext cx="4140000" cy="196834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ca10"/>
          <p:cNvSpPr/>
          <p:nvPr/>
        </p:nvSpPr>
        <p:spPr>
          <a:xfrm>
            <a:off x="319960" y="1747499"/>
            <a:ext cx="70040" cy="1968343"/>
          </a:xfrm>
          <a:prstGeom prst="rect">
            <a:avLst/>
          </a:prstGeom>
          <a:solidFill>
            <a:srgbClr val="94A3B8"/>
          </a:solidFill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12"/>
              <p:cNvSpPr/>
              <p:nvPr/>
            </p:nvSpPr>
            <p:spPr>
              <a:xfrm>
                <a:off x="389920" y="1797499"/>
                <a:ext cx="4020000" cy="2020000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t"/>
              <a:lstStyle/>
              <a:p>
                <a:pPr marL="0" indent="0">
                  <a:buNone/>
                </a:pPr>
                <a:r>
                  <a:rPr lang="vi-VN" sz="1250" b="1" dirty="0">
                    <a:solidFill>
                      <a:srgbClr val="374151"/>
                    </a:solidFill>
                    <a:latin typeface="Calibri"/>
                  </a:rPr>
                  <a:t>Stage 1 — Fast Filtering  (GIỮ NGUYÊN)</a:t>
                </a:r>
              </a:p>
              <a:p>
                <a:pPr marL="0" indent="0">
                  <a:buNone/>
                </a:pPr>
                <a:endParaRPr lang="vi-VN" sz="7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(x) — 1 forward pass không prompt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374151"/>
                    </a:solidFill>
                    <a:latin typeface="Calibri"/>
                  </a:rPr>
                  <a:t>↓</a:t>
                </a:r>
              </a:p>
              <a:p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cosine_sim(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10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(x), </a:t>
                </a:r>
                <a14:m>
                  <m:oMath xmlns:m="http://schemas.openxmlformats.org/officeDocument/2006/math">
                    <m:r>
                      <a:rPr lang="en-US" sz="1100" b="0" i="1" smtClean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𝑐𝑒𝑛𝑡𝑟𝑜𝑖</m:t>
                    </m:r>
                    <m:sSub>
                      <m:sSub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) ∀t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374151"/>
                    </a:solidFill>
                    <a:latin typeface="Calibri"/>
                  </a:rPr>
                  <a:t>↓</a:t>
                </a:r>
              </a:p>
              <a:p>
                <a:pPr marL="0" indent="0">
                  <a:buNone/>
                </a:pPr>
                <a:r>
                  <a:rPr lang="vi-VN" sz="1150" b="1" dirty="0">
                    <a:solidFill>
                      <a:srgbClr val="374151"/>
                    </a:solidFill>
                    <a:latin typeface="Calibri"/>
                  </a:rPr>
                  <a:t>Top-K candidates  (K = 3 hoặc </a:t>
                </a:r>
                <a:r>
                  <a:rPr lang="en-US" sz="1150" b="1" dirty="0">
                    <a:solidFill>
                      <a:srgbClr val="374151"/>
                    </a:solidFill>
                    <a:latin typeface="Calibri"/>
                  </a:rPr>
                  <a:t>K = </a:t>
                </a:r>
                <a:r>
                  <a:rPr lang="vi-VN" sz="1150" b="1" dirty="0">
                    <a:solidFill>
                      <a:srgbClr val="374151"/>
                    </a:solidFill>
                    <a:latin typeface="Calibri"/>
                  </a:rPr>
                  <a:t>5)</a:t>
                </a:r>
              </a:p>
              <a:p>
                <a:pPr marL="0" indent="0">
                  <a:buNone/>
                </a:pPr>
                <a:endParaRPr lang="vi-VN" sz="700" dirty="0"/>
              </a:p>
              <a:p>
                <a:pPr marL="0" indent="0">
                  <a:buNone/>
                </a:pPr>
                <a:r>
                  <a:rPr lang="vi-VN" sz="1050" dirty="0">
                    <a:solidFill>
                      <a:srgbClr val="374151"/>
                    </a:solidFill>
                    <a:latin typeface="Calibri"/>
                  </a:rPr>
                  <a:t>→ Chỉ 1 forward pass, giữ nguyên</a:t>
                </a:r>
              </a:p>
              <a:p>
                <a:pPr marL="0" indent="0">
                  <a:buNone/>
                </a:pPr>
                <a:r>
                  <a:rPr lang="vi-VN" sz="1050" dirty="0">
                    <a:solidFill>
                      <a:srgbClr val="374151"/>
                    </a:solidFill>
                    <a:latin typeface="Calibri"/>
                  </a:rPr>
                  <a:t>   như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050" b="0" i="1" smtClean="0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50" b="0" i="1" smtClean="0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acc>
                      </m:e>
                      <m:sub>
                        <m:r>
                          <a:rPr lang="en-US" sz="1050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</m:oMath>
                </a14:m>
                <a:r>
                  <a:rPr lang="en-US" sz="1050" dirty="0">
                    <a:solidFill>
                      <a:srgbClr val="374151"/>
                    </a:solidFill>
                    <a:latin typeface="Calibri"/>
                  </a:rPr>
                  <a:t> </a:t>
                </a:r>
                <a:r>
                  <a:rPr lang="vi-VN" sz="1050" dirty="0">
                    <a:solidFill>
                      <a:srgbClr val="374151"/>
                    </a:solidFill>
                    <a:latin typeface="Calibri"/>
                  </a:rPr>
                  <a:t>nhưng không cần train!</a:t>
                </a:r>
              </a:p>
            </p:txBody>
          </p:sp>
        </mc:Choice>
        <mc:Fallback xmlns="">
          <p:sp>
            <p:nvSpPr>
              <p:cNvPr id="12" name="t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920" y="1797499"/>
                <a:ext cx="4020000" cy="2020000"/>
              </a:xfrm>
              <a:prstGeom prst="rect">
                <a:avLst/>
              </a:prstGeom>
              <a:blipFill>
                <a:blip r:embed="rId3"/>
                <a:stretch>
                  <a:fillRect l="-152" t="-30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14"/>
          <p:cNvSpPr/>
          <p:nvPr/>
        </p:nvSpPr>
        <p:spPr>
          <a:xfrm>
            <a:off x="4489920" y="2632499"/>
            <a:ext cx="220000" cy="11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endParaRPr lang="vi-VN" sz="1600" b="1" dirty="0">
              <a:solidFill>
                <a:srgbClr val="F59E0B"/>
              </a:solidFill>
              <a:latin typeface="Calibri"/>
            </a:endParaRPr>
          </a:p>
        </p:txBody>
      </p:sp>
      <p:sp>
        <p:nvSpPr>
          <p:cNvPr id="15" name="cb15"/>
          <p:cNvSpPr/>
          <p:nvPr/>
        </p:nvSpPr>
        <p:spPr>
          <a:xfrm>
            <a:off x="4683960" y="1747499"/>
            <a:ext cx="4140000" cy="196834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16" name="ca15"/>
          <p:cNvSpPr/>
          <p:nvPr/>
        </p:nvSpPr>
        <p:spPr>
          <a:xfrm>
            <a:off x="4683960" y="1747499"/>
            <a:ext cx="55920" cy="1968343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17"/>
              <p:cNvSpPr/>
              <p:nvPr/>
            </p:nvSpPr>
            <p:spPr>
              <a:xfrm>
                <a:off x="4753920" y="1797499"/>
                <a:ext cx="4020000" cy="2020000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t"/>
              <a:lstStyle/>
              <a:p>
                <a:pPr marL="0" indent="0">
                  <a:buNone/>
                </a:pPr>
                <a:r>
                  <a:rPr lang="vi-VN" sz="1250" b="1" dirty="0">
                    <a:solidFill>
                      <a:srgbClr val="92400E"/>
                    </a:solidFill>
                    <a:latin typeface="Calibri"/>
                  </a:rPr>
                  <a:t>Stage 2 — Gate Score Refinement  (MỚI)</a:t>
                </a:r>
              </a:p>
              <a:p>
                <a:pPr marL="0" indent="0">
                  <a:buNone/>
                </a:pPr>
                <a:endParaRPr lang="vi-VN" sz="700" dirty="0"/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374151"/>
                    </a:solidFill>
                    <a:latin typeface="Calibri"/>
                  </a:rPr>
                  <a:t>Với mỗi task t trong Top-K: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Compute</a:t>
                </a:r>
                <a:r>
                  <a:rPr lang="en-US" sz="1100" dirty="0">
                    <a:solidFill>
                      <a:srgbClr val="1E293B"/>
                    </a:solidFill>
                    <a:latin typeface="Calibri"/>
                  </a:rPr>
                  <a:t>                      </a:t>
                </a: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— 1 forward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374151"/>
                    </a:solidFill>
                    <a:latin typeface="Calibri"/>
                  </a:rPr>
                  <a:t>↓</a:t>
                </a:r>
              </a:p>
              <a:p>
                <a:pPr marL="0" indent="0">
                  <a:buNone/>
                </a:pPr>
                <a:r>
                  <a:rPr lang="vi-VN" sz="1150" dirty="0">
                    <a:solidFill>
                      <a:srgbClr val="1E3A5F"/>
                    </a:solidFill>
                    <a:latin typeface="Calibri"/>
                  </a:rPr>
                  <a:t>a(x,t) = cosine_sim(</a:t>
                </a:r>
                <a:r>
                  <a:rPr lang="en-US" sz="1150" dirty="0">
                    <a:solidFill>
                      <a:srgbClr val="1E3A5F"/>
                    </a:solidFill>
                    <a:latin typeface="Calibri"/>
                  </a:rPr>
                  <a:t>                    </a:t>
                </a:r>
                <a:r>
                  <a:rPr lang="vi-VN" sz="1150" dirty="0">
                    <a:solidFill>
                      <a:srgbClr val="1E3A5F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50" b="0" i="1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50" b="0" i="1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1150" b="0" i="1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vi-VN" sz="1150" dirty="0">
                    <a:solidFill>
                      <a:srgbClr val="1E3A5F"/>
                    </a:solidFill>
                    <a:latin typeface="Calibri"/>
                  </a:rPr>
                  <a:t>)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374151"/>
                    </a:solidFill>
                    <a:latin typeface="Calibri"/>
                  </a:rPr>
                  <a:t>↓</a:t>
                </a:r>
              </a:p>
              <a:p>
                <a:r>
                  <a:rPr lang="vi-VN" sz="1150" b="1" dirty="0">
                    <a:solidFill>
                      <a:srgbClr val="92400E"/>
                    </a:solidFill>
                    <a:latin typeface="Calibri"/>
                  </a:rPr>
                  <a:t>k* = </a:t>
                </a:r>
                <a14:m>
                  <m:oMath xmlns:m="http://schemas.openxmlformats.org/officeDocument/2006/math">
                    <m:r>
                      <a:rPr lang="en-US" sz="1150" b="1" i="1">
                        <a:solidFill>
                          <a:srgbClr val="92400E"/>
                        </a:solidFill>
                        <a:latin typeface="Cambria Math" panose="02040503050406030204" pitchFamily="18" charset="0"/>
                      </a:rPr>
                      <m:t>𝒂𝒓𝒈𝒎𝒂</m:t>
                    </m:r>
                    <m:sSub>
                      <m:sSubPr>
                        <m:ctrlPr>
                          <a:rPr lang="en-US" sz="1150" b="1" i="1">
                            <a:solidFill>
                              <a:srgbClr val="92400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50" b="1" i="1">
                            <a:solidFill>
                              <a:srgbClr val="92400E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150" b="1" i="1">
                            <a:solidFill>
                              <a:srgbClr val="92400E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sz="1150" b="1" i="1">
                            <a:solidFill>
                              <a:srgbClr val="92400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1150" b="1" i="1">
                            <a:solidFill>
                              <a:srgbClr val="92400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𝑻𝒐𝒑</m:t>
                        </m:r>
                        <m:r>
                          <a:rPr lang="en-US" sz="1150" b="1" i="1">
                            <a:solidFill>
                              <a:srgbClr val="92400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1150" b="1" i="1">
                            <a:solidFill>
                              <a:srgbClr val="92400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𝑲</m:t>
                        </m:r>
                      </m:sub>
                    </m:sSub>
                    <m:r>
                      <a:rPr lang="en-US" sz="1150" b="1" i="1">
                        <a:solidFill>
                          <a:srgbClr val="92400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vi-VN" sz="1150" b="1" dirty="0">
                    <a:solidFill>
                      <a:srgbClr val="92400E"/>
                    </a:solidFill>
                    <a:latin typeface="Calibri"/>
                  </a:rPr>
                  <a:t>a(x,</a:t>
                </a:r>
                <a:r>
                  <a:rPr lang="en-US" sz="1150" b="1" dirty="0">
                    <a:solidFill>
                      <a:srgbClr val="92400E"/>
                    </a:solidFill>
                    <a:latin typeface="Calibri"/>
                  </a:rPr>
                  <a:t> </a:t>
                </a:r>
                <a:r>
                  <a:rPr lang="vi-VN" sz="1150" b="1" dirty="0">
                    <a:solidFill>
                      <a:srgbClr val="92400E"/>
                    </a:solidFill>
                    <a:latin typeface="Calibri"/>
                  </a:rPr>
                  <a:t>t)</a:t>
                </a:r>
                <a:endParaRPr lang="en-US" sz="1150" b="1" dirty="0">
                  <a:solidFill>
                    <a:srgbClr val="92400E"/>
                  </a:solidFill>
                  <a:latin typeface="Calibri"/>
                </a:endParaRPr>
              </a:p>
              <a:p>
                <a:pPr marL="0" indent="0">
                  <a:buNone/>
                </a:pPr>
                <a:endParaRPr lang="vi-VN" sz="700" dirty="0"/>
              </a:p>
              <a:p>
                <a:pPr marL="0" indent="0">
                  <a:buNone/>
                </a:pPr>
                <a:r>
                  <a:rPr lang="vi-VN" sz="1050" dirty="0">
                    <a:solidFill>
                      <a:srgbClr val="065F46"/>
                    </a:solidFill>
                    <a:latin typeface="Calibri"/>
                  </a:rPr>
                  <a:t>→ Refinement với instructed info!</a:t>
                </a:r>
              </a:p>
              <a:p>
                <a:pPr marL="0" indent="0">
                  <a:buNone/>
                </a:pPr>
                <a:r>
                  <a:rPr lang="vi-VN" sz="1050" dirty="0">
                    <a:solidFill>
                      <a:srgbClr val="065F46"/>
                    </a:solidFill>
                    <a:latin typeface="Calibri"/>
                  </a:rPr>
                  <a:t>   Chỉ K forward passes thêm (K nhỏ)</a:t>
                </a:r>
              </a:p>
            </p:txBody>
          </p:sp>
        </mc:Choice>
        <mc:Fallback xmlns="">
          <p:sp>
            <p:nvSpPr>
              <p:cNvPr id="17" name="t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920" y="1797499"/>
                <a:ext cx="4020000" cy="2020000"/>
              </a:xfrm>
              <a:prstGeom prst="rect">
                <a:avLst/>
              </a:prstGeom>
              <a:blipFill>
                <a:blip r:embed="rId4"/>
                <a:stretch>
                  <a:fillRect l="-152" t="-30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b18"/>
          <p:cNvSpPr/>
          <p:nvPr/>
        </p:nvSpPr>
        <p:spPr>
          <a:xfrm>
            <a:off x="319960" y="3911262"/>
            <a:ext cx="8503920" cy="7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ca18"/>
          <p:cNvSpPr/>
          <p:nvPr/>
        </p:nvSpPr>
        <p:spPr>
          <a:xfrm>
            <a:off x="319960" y="3911261"/>
            <a:ext cx="56000" cy="749999"/>
          </a:xfrm>
          <a:prstGeom prst="rect">
            <a:avLst/>
          </a:prstGeom>
          <a:solidFill>
            <a:srgbClr val="059669"/>
          </a:solidFill>
        </p:spPr>
        <p:txBody>
          <a:bodyPr/>
          <a:lstStyle/>
          <a:p>
            <a:endParaRPr/>
          </a:p>
        </p:txBody>
      </p:sp>
      <p:sp>
        <p:nvSpPr>
          <p:cNvPr id="20" name="t20"/>
          <p:cNvSpPr/>
          <p:nvPr/>
        </p:nvSpPr>
        <p:spPr>
          <a:xfrm>
            <a:off x="389920" y="3953262"/>
            <a:ext cx="8360000" cy="558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vi-VN" sz="1200" b="1" dirty="0">
                <a:solidFill>
                  <a:srgbClr val="059669"/>
                </a:solidFill>
                <a:latin typeface="Calibri"/>
              </a:rPr>
              <a:t>Tại sao cần 2 stage? Tại sao không dùng gate score cho tất cả T tasks?</a:t>
            </a:r>
          </a:p>
          <a:p>
            <a:pPr marL="0" indent="0">
              <a:buNone/>
            </a:pPr>
            <a:endParaRPr lang="vi-VN" sz="700" dirty="0"/>
          </a:p>
          <a:p>
            <a:pPr marL="0" indent="0">
              <a:buNone/>
            </a:pPr>
            <a:r>
              <a:rPr lang="vi-VN" sz="1100" dirty="0">
                <a:solidFill>
                  <a:srgbClr val="1E293B"/>
                </a:solidFill>
                <a:latin typeface="Calibri"/>
              </a:rPr>
              <a:t>Gate score đơn thuần: cần T forward passes (1 cho mỗi task) → O(T) inference time → không scalable khi T lớn!</a:t>
            </a:r>
          </a:p>
          <a:p>
            <a:pPr marL="0" indent="0">
              <a:buNone/>
            </a:pPr>
            <a:r>
              <a:rPr lang="vi-VN" sz="1100" dirty="0">
                <a:solidFill>
                  <a:srgbClr val="065F46"/>
                </a:solidFill>
                <a:latin typeface="Calibri"/>
              </a:rPr>
              <a:t>2-stage: Stage 1 dùng centroid (O(T) ops nhưng không cần forward) → lọc xuống K=3 → Stage 2 chỉ cần K=3 passes → O(K) inference!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9834047-5A7D-845E-0C38-E296B077AD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1945" y="978959"/>
            <a:ext cx="2613277" cy="46446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EB53BE2-BAA0-51E9-FFFE-0DCD0BE009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4489" y="2629704"/>
            <a:ext cx="606941" cy="22485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54D40F4-DEB2-AE49-2041-D5A8DECE47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7550" y="2292422"/>
            <a:ext cx="606939" cy="22485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2D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b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558"/>
          </a:solidFill>
        </p:spPr>
        <p:txBody>
          <a:bodyPr/>
          <a:lstStyle/>
          <a:p>
            <a:endParaRPr/>
          </a:p>
        </p:txBody>
      </p:sp>
      <p:sp>
        <p:nvSpPr>
          <p:cNvPr id="3" name="ha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/>
          </a:p>
        </p:txBody>
      </p:sp>
      <p:sp>
        <p:nvSpPr>
          <p:cNvPr id="4" name="ht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vi-VN" sz="2200" b="1" dirty="0">
                <a:solidFill>
                  <a:srgbClr val="FFFFFF"/>
                </a:solidFill>
                <a:latin typeface="Calibri"/>
              </a:rPr>
              <a:t>Định hướng 2 — Kết nối Lý thuyết &amp; Kế hoạch Ablation</a:t>
            </a:r>
          </a:p>
        </p:txBody>
      </p:sp>
      <p:sp>
        <p:nvSpPr>
          <p:cNvPr id="5" name="fb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558"/>
          </a:solidFill>
        </p:spPr>
        <p:txBody>
          <a:bodyPr/>
          <a:lstStyle/>
          <a:p>
            <a:endParaRPr/>
          </a:p>
        </p:txBody>
      </p:sp>
      <p:sp>
        <p:nvSpPr>
          <p:cNvPr id="6" name="ft"/>
          <p:cNvSpPr/>
          <p:nvPr/>
        </p:nvSpPr>
        <p:spPr>
          <a:xfrm>
            <a:off x="274320" y="488718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BB8FF"/>
                </a:solidFill>
                <a:latin typeface="Calibri"/>
              </a:rPr>
              <a:t>NoRGa — NeurIPS 2024  |  Lưu Hải Đăng</a:t>
            </a:r>
          </a:p>
        </p:txBody>
      </p:sp>
      <p:sp>
        <p:nvSpPr>
          <p:cNvPr id="7" name="cb7"/>
          <p:cNvSpPr/>
          <p:nvPr/>
        </p:nvSpPr>
        <p:spPr>
          <a:xfrm>
            <a:off x="320040" y="720000"/>
            <a:ext cx="4000000" cy="3205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ca7"/>
          <p:cNvSpPr/>
          <p:nvPr/>
        </p:nvSpPr>
        <p:spPr>
          <a:xfrm>
            <a:off x="330320" y="720000"/>
            <a:ext cx="45719" cy="3217540"/>
          </a:xfrm>
          <a:prstGeom prst="rect">
            <a:avLst/>
          </a:prstGeom>
          <a:solidFill>
            <a:srgbClr val="2563EB"/>
          </a:solidFill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9"/>
              <p:cNvSpPr/>
              <p:nvPr/>
            </p:nvSpPr>
            <p:spPr>
              <a:xfrm>
                <a:off x="390000" y="708000"/>
                <a:ext cx="3880000" cy="3052000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t"/>
              <a:lstStyle/>
              <a:p>
                <a:pPr marL="0" indent="0">
                  <a:buNone/>
                </a:pPr>
                <a:r>
                  <a:rPr lang="vi-VN" sz="1300" b="1" dirty="0">
                    <a:solidFill>
                      <a:srgbClr val="2563EB"/>
                    </a:solidFill>
                    <a:latin typeface="Calibri"/>
                  </a:rPr>
                  <a:t>So sánh lý thuyết: hˆω vs Gate Score</a:t>
                </a:r>
              </a:p>
              <a:p>
                <a:pPr marL="0" indent="0">
                  <a:buNone/>
                </a:pPr>
                <a:endParaRPr lang="vi-VN" sz="7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smtClean="0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200" b="1" i="1" smtClean="0">
                                <a:solidFill>
                                  <a:srgbClr val="EF444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b="1" i="1" smtClean="0">
                                <a:solidFill>
                                  <a:srgbClr val="EF4444"/>
                                </a:solidFill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</m:acc>
                      </m:e>
                      <m:sub>
                        <m:r>
                          <a:rPr lang="en-US" sz="1200" b="1" i="1" smtClean="0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sub>
                    </m:sSub>
                  </m:oMath>
                </a14:m>
                <a:r>
                  <a:rPr lang="en-US" sz="1200" b="1" dirty="0">
                    <a:solidFill>
                      <a:srgbClr val="EF4444"/>
                    </a:solidFill>
                    <a:latin typeface="Calibri"/>
                  </a:rPr>
                  <a:t> </a:t>
                </a:r>
                <a:r>
                  <a:rPr lang="vi-VN" sz="1200" b="1" dirty="0">
                    <a:solidFill>
                      <a:srgbClr val="EF4444"/>
                    </a:solidFill>
                    <a:latin typeface="Calibri"/>
                  </a:rPr>
                  <a:t>(hiện tại):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Trained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𝑇𝐼𝐼</m:t>
                        </m:r>
                      </m:sub>
                    </m:sSub>
                    <m:r>
                      <a:rPr lang="en-US" sz="1100" b="0" i="0" smtClean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= </a:t>
                </a:r>
                <a:r>
                  <a:rPr lang="en-US" sz="1100" dirty="0" err="1">
                    <a:solidFill>
                      <a:srgbClr val="1E293B"/>
                    </a:solidFill>
                    <a:latin typeface="Calibri"/>
                  </a:rPr>
                  <a:t>Cross_Entropy</a:t>
                </a: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100" b="0" i="1" smtClean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100" b="0" i="1" smtClean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acc>
                      </m:e>
                      <m:sub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</m:oMath>
                </a14:m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(x)), t)</a:t>
                </a:r>
              </a:p>
              <a:p>
                <a:pPr marL="0" indent="0">
                  <a:buNone/>
                </a:pPr>
                <a:r>
                  <a:rPr lang="vi-VN" sz="1050" dirty="0">
                    <a:solidFill>
                      <a:srgbClr val="374151"/>
                    </a:solidFill>
                    <a:latin typeface="Calibri"/>
                  </a:rPr>
                  <a:t>Guarantee: minimize task ID error</a:t>
                </a:r>
              </a:p>
              <a:p>
                <a:pPr marL="0" indent="0">
                  <a:buNone/>
                </a:pPr>
                <a:r>
                  <a:rPr lang="vi-VN" sz="1100" b="1" dirty="0">
                    <a:solidFill>
                      <a:srgbClr val="7F1D1D"/>
                    </a:solidFill>
                    <a:latin typeface="Calibri"/>
                  </a:rPr>
                  <a:t>WTP alignment: KHÔNG có!</a:t>
                </a:r>
              </a:p>
              <a:p>
                <a:r>
                  <a:rPr lang="vi-VN" sz="1050" dirty="0">
                    <a:solidFill>
                      <a:srgbClr val="374151"/>
                    </a:solidFill>
                    <a:latin typeface="Calibri"/>
                  </a:rPr>
                  <a:t>Representation: uninstructed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05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vi-VN" sz="1050" dirty="0">
                    <a:solidFill>
                      <a:srgbClr val="374151"/>
                    </a:solidFill>
                    <a:latin typeface="Calibri"/>
                  </a:rPr>
                  <a:t>(x)</a:t>
                </a:r>
              </a:p>
              <a:p>
                <a:r>
                  <a:rPr lang="vi-VN" sz="1050" dirty="0">
                    <a:solidFill>
                      <a:srgbClr val="374151"/>
                    </a:solidFill>
                    <a:latin typeface="Calibri"/>
                  </a:rPr>
                  <a:t>Parameters: cần train thêm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050" i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50" i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acc>
                      </m:e>
                      <m:sub>
                        <m:r>
                          <a:rPr lang="en-US" sz="105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</m:oMath>
                </a14:m>
                <a:endParaRPr lang="vi-VN" sz="1050" dirty="0">
                  <a:solidFill>
                    <a:srgbClr val="374151"/>
                  </a:solidFill>
                  <a:latin typeface="Calibri"/>
                </a:endParaRPr>
              </a:p>
              <a:p>
                <a:pPr marL="0" indent="0">
                  <a:buNone/>
                </a:pPr>
                <a:endParaRPr lang="vi-VN" sz="700" dirty="0"/>
              </a:p>
              <a:p>
                <a:pPr marL="0" indent="0">
                  <a:buNone/>
                </a:pPr>
                <a:r>
                  <a:rPr lang="vi-VN" sz="1200" b="1" dirty="0">
                    <a:solidFill>
                      <a:srgbClr val="059669"/>
                    </a:solidFill>
                    <a:latin typeface="Calibri"/>
                  </a:rPr>
                  <a:t>Gate Score TII (đề xuất):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Score = query-key alignment khi dùng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vi-VN" sz="1100" dirty="0">
                  <a:solidFill>
                    <a:srgbClr val="1E293B"/>
                  </a:solidFill>
                  <a:latin typeface="Calibri"/>
                </a:endParaRPr>
              </a:p>
              <a:p>
                <a:pPr marL="0" indent="0">
                  <a:buNone/>
                </a:pPr>
                <a:r>
                  <a:rPr lang="vi-VN" sz="1050" dirty="0">
                    <a:solidFill>
                      <a:srgbClr val="374151"/>
                    </a:solidFill>
                    <a:latin typeface="Calibri"/>
                  </a:rPr>
                  <a:t>Guarantee: Theorem 4.1 identifiability</a:t>
                </a:r>
              </a:p>
              <a:p>
                <a:pPr marL="0" indent="0">
                  <a:buNone/>
                </a:pPr>
                <a:r>
                  <a:rPr lang="vi-VN" sz="1100" b="1" dirty="0">
                    <a:solidFill>
                      <a:srgbClr val="065F46"/>
                    </a:solidFill>
                    <a:latin typeface="Calibri"/>
                  </a:rPr>
                  <a:t>WTP alignment: TRỰC TIẾP ✅</a:t>
                </a:r>
              </a:p>
              <a:p>
                <a:pPr marL="0" indent="0">
                  <a:buNone/>
                </a:pPr>
                <a:r>
                  <a:rPr lang="vi-VN" sz="1050" dirty="0">
                    <a:solidFill>
                      <a:srgbClr val="374151"/>
                    </a:solidFill>
                    <a:latin typeface="Calibri"/>
                  </a:rPr>
                  <a:t>Representation: instructed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050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vi-VN" sz="1050" dirty="0">
                    <a:solidFill>
                      <a:srgbClr val="374151"/>
                    </a:solidFill>
                    <a:latin typeface="Calibri"/>
                  </a:rPr>
                  <a:t> inject) ✅</a:t>
                </a:r>
              </a:p>
              <a:p>
                <a:pPr marL="0" indent="0">
                  <a:buNone/>
                </a:pPr>
                <a:r>
                  <a:rPr lang="vi-VN" sz="1100" b="1" dirty="0">
                    <a:solidFill>
                      <a:srgbClr val="065F46"/>
                    </a:solidFill>
                    <a:latin typeface="Calibri"/>
                  </a:rPr>
                  <a:t>Parameters: KHÔNG cần train thêm ✅</a:t>
                </a:r>
              </a:p>
              <a:p>
                <a:pPr marL="0" indent="0">
                  <a:buNone/>
                </a:pPr>
                <a:endParaRPr lang="vi-VN" sz="700" dirty="0"/>
              </a:p>
              <a:p>
                <a:pPr marL="0" indent="0">
                  <a:buNone/>
                </a:pPr>
                <a:r>
                  <a:rPr lang="vi-VN" sz="1150" b="1" dirty="0">
                    <a:solidFill>
                      <a:srgbClr val="374151"/>
                    </a:solidFill>
                    <a:latin typeface="Calibri"/>
                  </a:rPr>
                  <a:t>Gap Oracle TII - Actual TII: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= phần accuracy bị mất do TII failure</a:t>
                </a:r>
              </a:p>
              <a:p>
                <a:pPr marL="0" indent="0">
                  <a:buNone/>
                </a:pPr>
                <a:r>
                  <a:rPr lang="vi-VN" sz="1100" b="1" dirty="0">
                    <a:solidFill>
                      <a:srgbClr val="1D4ED8"/>
                    </a:solidFill>
                    <a:latin typeface="Calibri"/>
                  </a:rPr>
                  <a:t>Paper CHƯA report → first contribution!</a:t>
                </a:r>
              </a:p>
            </p:txBody>
          </p:sp>
        </mc:Choice>
        <mc:Fallback xmlns="">
          <p:sp>
            <p:nvSpPr>
              <p:cNvPr id="9" name="t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00" y="708000"/>
                <a:ext cx="3880000" cy="3052000"/>
              </a:xfrm>
              <a:prstGeom prst="rect">
                <a:avLst/>
              </a:prstGeom>
              <a:blipFill>
                <a:blip r:embed="rId2"/>
                <a:stretch>
                  <a:fillRect l="-314" t="-200" b="-459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b10"/>
          <p:cNvSpPr/>
          <p:nvPr/>
        </p:nvSpPr>
        <p:spPr>
          <a:xfrm>
            <a:off x="4480040" y="720000"/>
            <a:ext cx="4343960" cy="3205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ca10"/>
          <p:cNvSpPr/>
          <p:nvPr/>
        </p:nvSpPr>
        <p:spPr>
          <a:xfrm>
            <a:off x="4480040" y="708000"/>
            <a:ext cx="56000" cy="3217540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12"/>
              <p:cNvSpPr/>
              <p:nvPr/>
            </p:nvSpPr>
            <p:spPr>
              <a:xfrm>
                <a:off x="4550000" y="694944"/>
                <a:ext cx="4220000" cy="2905056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t"/>
              <a:lstStyle/>
              <a:p>
                <a:pPr marL="0" indent="0">
                  <a:buNone/>
                </a:pPr>
                <a:r>
                  <a:rPr lang="vi-VN" sz="1300" b="1" dirty="0">
                    <a:solidFill>
                      <a:srgbClr val="92400E"/>
                    </a:solidFill>
                    <a:latin typeface="Calibri"/>
                  </a:rPr>
                  <a:t>Kế hoạch Ablation Study</a:t>
                </a:r>
              </a:p>
              <a:p>
                <a:pPr marL="0" indent="0">
                  <a:buNone/>
                </a:pPr>
                <a:r>
                  <a:rPr lang="vi-VN" sz="1050" dirty="0">
                    <a:solidFill>
                      <a:srgbClr val="374151"/>
                    </a:solidFill>
                    <a:latin typeface="Calibri"/>
                  </a:rPr>
                  <a:t>Dataset: Split CIFAR-100, ViT-B/16 Sup-21K</a:t>
                </a:r>
              </a:p>
              <a:p>
                <a:pPr marL="0" indent="0">
                  <a:buNone/>
                </a:pPr>
                <a:endParaRPr lang="vi-VN" sz="700" dirty="0"/>
              </a:p>
              <a:p>
                <a:pPr marL="0" indent="0">
                  <a:buNone/>
                </a:pPr>
                <a:r>
                  <a:rPr lang="vi-VN" sz="1150" b="1" dirty="0">
                    <a:solidFill>
                      <a:srgbClr val="374151"/>
                    </a:solidFill>
                    <a:latin typeface="Calibri"/>
                  </a:rPr>
                  <a:t>E0 — Oracle TII:</a:t>
                </a:r>
              </a:p>
              <a:p>
                <a:pPr marL="0" indent="0">
                  <a:buNone/>
                </a:pPr>
                <a:r>
                  <a:rPr lang="vi-VN" sz="1050" dirty="0">
                    <a:solidFill>
                      <a:srgbClr val="1E293B"/>
                    </a:solidFill>
                    <a:latin typeface="Calibri"/>
                  </a:rPr>
                  <a:t>   Ground truth task ID → FA upper bound</a:t>
                </a:r>
              </a:p>
              <a:p>
                <a:pPr marL="0" indent="0">
                  <a:buNone/>
                </a:pPr>
                <a:r>
                  <a:rPr lang="vi-VN" sz="1050" dirty="0">
                    <a:solidFill>
                      <a:srgbClr val="7F1D1D"/>
                    </a:solidFill>
                    <a:latin typeface="Calibri"/>
                  </a:rPr>
                  <a:t>   → Đo TII failure gap = E0 FA − E1 FA</a:t>
                </a:r>
              </a:p>
              <a:p>
                <a:pPr marL="0" indent="0">
                  <a:buNone/>
                </a:pPr>
                <a:endParaRPr lang="vi-VN" sz="700" dirty="0"/>
              </a:p>
              <a:p>
                <a:pPr marL="0" indent="0">
                  <a:buNone/>
                </a:pPr>
                <a:r>
                  <a:rPr lang="vi-VN" sz="1150" b="1" dirty="0">
                    <a:solidFill>
                      <a:srgbClr val="374151"/>
                    </a:solidFill>
                    <a:latin typeface="Calibri"/>
                  </a:rPr>
                  <a:t>E1 — Baseline: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50" b="1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150" b="1" i="1" smtClean="0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150" b="1" i="1" smtClean="0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</m:acc>
                      </m:e>
                      <m:sub>
                        <m:r>
                          <a:rPr lang="en-US" sz="1150" b="1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sub>
                    </m:sSub>
                  </m:oMath>
                </a14:m>
                <a:r>
                  <a:rPr lang="en-US" sz="1150" b="1" dirty="0">
                    <a:solidFill>
                      <a:srgbClr val="374151"/>
                    </a:solidFill>
                    <a:latin typeface="Calibri"/>
                  </a:rPr>
                  <a:t> </a:t>
                </a:r>
                <a:r>
                  <a:rPr lang="vi-VN" sz="1150" b="1" dirty="0">
                    <a:solidFill>
                      <a:srgbClr val="374151"/>
                    </a:solidFill>
                    <a:latin typeface="Calibri"/>
                  </a:rPr>
                  <a:t>gốc (HiDe-Prompt)</a:t>
                </a:r>
              </a:p>
              <a:p>
                <a:pPr marL="0" indent="0">
                  <a:buNone/>
                </a:pPr>
                <a:r>
                  <a:rPr lang="vi-VN" sz="1050" dirty="0">
                    <a:solidFill>
                      <a:srgbClr val="1E293B"/>
                    </a:solidFill>
                    <a:latin typeface="Calibri"/>
                  </a:rPr>
                  <a:t>   TII acc, FA, CA — điểm khởi đầu</a:t>
                </a:r>
              </a:p>
              <a:p>
                <a:pPr marL="0" indent="0">
                  <a:buNone/>
                </a:pPr>
                <a:endParaRPr lang="vi-VN" sz="700" dirty="0"/>
              </a:p>
              <a:p>
                <a:pPr marL="0" indent="0">
                  <a:buNone/>
                </a:pPr>
                <a:r>
                  <a:rPr lang="vi-VN" sz="1150" b="1" dirty="0">
                    <a:solidFill>
                      <a:srgbClr val="374151"/>
                    </a:solidFill>
                    <a:latin typeface="Calibri"/>
                  </a:rPr>
                  <a:t>E2 — Gate Score only (không Stage 1):</a:t>
                </a:r>
              </a:p>
              <a:p>
                <a:pPr marL="0" indent="0">
                  <a:buNone/>
                </a:pPr>
                <a:r>
                  <a:rPr lang="vi-VN" sz="1050" dirty="0">
                    <a:solidFill>
                      <a:srgbClr val="1E293B"/>
                    </a:solidFill>
                    <a:latin typeface="Calibri"/>
                  </a:rPr>
                  <a:t>   T forward passes, TII acc vs E1</a:t>
                </a:r>
              </a:p>
              <a:p>
                <a:pPr marL="0" indent="0">
                  <a:buNone/>
                </a:pPr>
                <a:r>
                  <a:rPr lang="vi-VN" sz="1050" dirty="0">
                    <a:solidFill>
                      <a:srgbClr val="065F46"/>
                    </a:solidFill>
                    <a:latin typeface="Calibri"/>
                  </a:rPr>
                  <a:t>   → Confirm gate score signal quality</a:t>
                </a:r>
              </a:p>
              <a:p>
                <a:pPr marL="0" indent="0">
                  <a:buNone/>
                </a:pPr>
                <a:endParaRPr lang="vi-VN" sz="700" dirty="0"/>
              </a:p>
              <a:p>
                <a:pPr marL="0" indent="0">
                  <a:buNone/>
                </a:pPr>
                <a:r>
                  <a:rPr lang="vi-VN" sz="1150" b="1" dirty="0">
                    <a:solidFill>
                      <a:srgbClr val="374151"/>
                    </a:solidFill>
                    <a:latin typeface="Calibri"/>
                  </a:rPr>
                  <a:t>E3 — 2-stage K</a:t>
                </a:r>
                <a:r>
                  <a:rPr lang="en-US" sz="1150" b="1" dirty="0">
                    <a:solidFill>
                      <a:srgbClr val="374151"/>
                    </a:solidFill>
                    <a:latin typeface="Calibri"/>
                  </a:rPr>
                  <a:t> </a:t>
                </a:r>
                <a:r>
                  <a:rPr lang="vi-VN" sz="1150" b="1" dirty="0">
                    <a:solidFill>
                      <a:srgbClr val="374151"/>
                    </a:solidFill>
                    <a:latin typeface="Calibri"/>
                  </a:rPr>
                  <a:t>=</a:t>
                </a:r>
                <a:r>
                  <a:rPr lang="en-US" sz="1150" b="1" dirty="0">
                    <a:solidFill>
                      <a:srgbClr val="374151"/>
                    </a:solidFill>
                    <a:latin typeface="Calibri"/>
                  </a:rPr>
                  <a:t> </a:t>
                </a:r>
                <a:r>
                  <a:rPr lang="vi-VN" sz="1150" b="1" dirty="0">
                    <a:solidFill>
                      <a:srgbClr val="374151"/>
                    </a:solidFill>
                    <a:latin typeface="Calibri"/>
                  </a:rPr>
                  <a:t>3 (đề xuất chính):</a:t>
                </a:r>
              </a:p>
              <a:p>
                <a:pPr marL="0" indent="0">
                  <a:buNone/>
                </a:pPr>
                <a:r>
                  <a:rPr lang="vi-VN" sz="1050" dirty="0">
                    <a:solidFill>
                      <a:srgbClr val="1E293B"/>
                    </a:solidFill>
                    <a:latin typeface="Calibri"/>
                  </a:rPr>
                  <a:t>   TII acc, FA, inference latency</a:t>
                </a:r>
              </a:p>
              <a:p>
                <a:pPr marL="0" indent="0">
                  <a:buNone/>
                </a:pPr>
                <a:r>
                  <a:rPr lang="vi-VN" sz="1050" dirty="0">
                    <a:solidFill>
                      <a:srgbClr val="065F46"/>
                    </a:solidFill>
                    <a:latin typeface="Calibri"/>
                  </a:rPr>
                  <a:t>   → Main result: accuracy + efficiency</a:t>
                </a:r>
              </a:p>
              <a:p>
                <a:pPr marL="0" indent="0">
                  <a:buNone/>
                </a:pPr>
                <a:endParaRPr lang="vi-VN" sz="700" dirty="0"/>
              </a:p>
              <a:p>
                <a:pPr marL="0" indent="0">
                  <a:buNone/>
                </a:pPr>
                <a:r>
                  <a:rPr lang="vi-VN" sz="1150" b="1" dirty="0">
                    <a:solidFill>
                      <a:srgbClr val="374151"/>
                    </a:solidFill>
                    <a:latin typeface="Calibri"/>
                  </a:rPr>
                  <a:t>E4 — Sensitivity: K = 1, 3, 5, 10:</a:t>
                </a:r>
              </a:p>
              <a:p>
                <a:pPr marL="0" indent="0">
                  <a:buNone/>
                </a:pPr>
                <a:endParaRPr lang="vi-VN" sz="700" dirty="0"/>
              </a:p>
              <a:p>
                <a:pPr marL="0" indent="0">
                  <a:buNone/>
                </a:pPr>
                <a:r>
                  <a:rPr lang="vi-VN" sz="1100" b="1" dirty="0">
                    <a:solidFill>
                      <a:srgbClr val="065F46"/>
                    </a:solidFill>
                    <a:latin typeface="Calibri"/>
                  </a:rPr>
                  <a:t>Kỳ vọng: TII acc tăng 2-5%, FA tăng 0.5-1.5%</a:t>
                </a:r>
              </a:p>
            </p:txBody>
          </p:sp>
        </mc:Choice>
        <mc:Fallback xmlns="">
          <p:sp>
            <p:nvSpPr>
              <p:cNvPr id="12" name="t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0000" y="694944"/>
                <a:ext cx="4220000" cy="2905056"/>
              </a:xfrm>
              <a:prstGeom prst="rect">
                <a:avLst/>
              </a:prstGeom>
              <a:blipFill>
                <a:blip r:embed="rId3"/>
                <a:stretch>
                  <a:fillRect l="-144" t="-210" b="-1362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b13"/>
          <p:cNvSpPr/>
          <p:nvPr/>
        </p:nvSpPr>
        <p:spPr>
          <a:xfrm>
            <a:off x="320040" y="4017360"/>
            <a:ext cx="8503920" cy="815244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14"/>
              <p:cNvSpPr/>
              <p:nvPr/>
            </p:nvSpPr>
            <p:spPr>
              <a:xfrm>
                <a:off x="390000" y="4045360"/>
                <a:ext cx="8360000" cy="720000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t"/>
              <a:lstStyle/>
              <a:p>
                <a:pPr marL="0" indent="0">
                  <a:buNone/>
                </a:pPr>
                <a:r>
                  <a:rPr lang="vi-VN" sz="1250" b="1" dirty="0">
                    <a:solidFill>
                      <a:srgbClr val="059669"/>
                    </a:solidFill>
                    <a:latin typeface="Calibri"/>
                  </a:rPr>
                  <a:t>⭐  Tóm gọn để trình bày với thầy:</a:t>
                </a:r>
              </a:p>
              <a:p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TII hiện tại dùng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100" i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100" i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acc>
                      </m:e>
                      <m:sub>
                        <m:r>
                          <a:rPr lang="en-US" sz="110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</m:oMath>
                </a14:m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 với hai vấn đề: (1) objective mismatch — TII loss ≠ WTP alignment, (2) uninstructed representation.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Chúng tôi đề xuất dùng NoRGa gate scores thay thế — vì Definition 4.2 đảm bảo gate score là consistent estimator của query-key</a:t>
                </a:r>
              </a:p>
              <a:p>
                <a:pPr marL="0" indent="0">
                  <a:buNone/>
                </a:pPr>
                <a:r>
                  <a:rPr lang="vi-VN" sz="1100" dirty="0">
                    <a:solidFill>
                      <a:srgbClr val="1E293B"/>
                    </a:solidFill>
                    <a:latin typeface="Calibri"/>
                  </a:rPr>
                  <a:t>alignment, chính xác là thông tin TII cần. Experiment chỉ là ablation trên codebase sẵn có. Không cần train thêm module.</a:t>
                </a:r>
              </a:p>
            </p:txBody>
          </p:sp>
        </mc:Choice>
        <mc:Fallback xmlns="">
          <p:sp>
            <p:nvSpPr>
              <p:cNvPr id="14" name="t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00" y="4045360"/>
                <a:ext cx="8360000" cy="720000"/>
              </a:xfrm>
              <a:prstGeom prst="rect">
                <a:avLst/>
              </a:prstGeom>
              <a:blipFill>
                <a:blip r:embed="rId4"/>
                <a:stretch>
                  <a:fillRect l="-73" t="-847" b="-1610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hướng 3 — NoRGa cho Multimodal &amp; LLM Continual Learning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— NeurIPS 2024  |  Lưu Hải Đăng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64008" cy="71323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" y="868680"/>
            <a:ext cx="8247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cần giải quyết: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" y="1161288"/>
            <a:ext cx="82478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Vision-only limitation — chưa có bằng chứng NoRGa hoạt động trên NLP, multimodal, LLMs.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0040" y="1572768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hội: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0040" y="196596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1965960"/>
            <a:ext cx="64008" cy="1600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" y="2057400"/>
            <a:ext cx="2441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Text Encoder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" y="2350008"/>
            <a:ext cx="244144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 NoRGa cho text transformer của CLIP. Test trên sequential CoCoOp, DualCoOp benchmarks. Multimodal CL là hot topic.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18688" y="196596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18688" y="1965960"/>
            <a:ext cx="64008" cy="1600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83280" y="2057400"/>
            <a:ext cx="2441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/ Instruction CL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2350008"/>
            <a:ext cx="244144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trong instruction-following CL. LoRA + NoRGa? Prefix tuning đã được dùng trong LLM — áp dụng NoRGa là logical extension.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17336" y="196596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17336" y="1965960"/>
            <a:ext cx="64008" cy="1600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81928" y="2057400"/>
            <a:ext cx="2441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Per-layer α, τ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21"/>
              <p:cNvSpPr/>
              <p:nvPr/>
            </p:nvSpPr>
            <p:spPr>
              <a:xfrm>
                <a:off x="6281928" y="2350008"/>
                <a:ext cx="2441448" cy="112471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Thay vì shared α, τ cho toàn model, </a:t>
                </a:r>
                <a:r>
                  <a:rPr lang="en-US" sz="125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dùng</a:t>
                </a:r>
                <a:r>
                  <a:rPr lang="en-US" sz="12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25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𝛼</m:t>
                        </m:r>
                      </m:e>
                      <m:sub>
                        <m:r>
                          <a:rPr lang="en-US" sz="12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12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25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𝜏</m:t>
                        </m:r>
                      </m:e>
                      <m:sub>
                        <m:r>
                          <a:rPr lang="en-US" sz="12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1250" dirty="0">
                    <a:solidFill>
                      <a:srgbClr val="1E293B"/>
                    </a:solidFill>
                    <a:latin typeface="Calibri" pitchFamily="34" charset="0"/>
                    <a:ea typeface="Cambria Math" panose="02040503050406030204" pitchFamily="18" charset="0"/>
                    <a:cs typeface="Calibri" pitchFamily="34" charset="-120"/>
                  </a:rPr>
                  <a:t> </a:t>
                </a:r>
                <a:r>
                  <a:rPr lang="en-US" sz="125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riêng</a:t>
                </a:r>
                <a:r>
                  <a:rPr lang="en-US" sz="12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cho từng layer. Cho phép different layers learn different levels of non-linearity.</a:t>
                </a:r>
                <a:endParaRPr lang="en-US" sz="1250" dirty="0"/>
              </a:p>
            </p:txBody>
          </p:sp>
        </mc:Choice>
        <mc:Fallback xmlns="">
          <p:sp>
            <p:nvSpPr>
              <p:cNvPr id="23" name="Text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1928" y="2350008"/>
                <a:ext cx="2441448" cy="1124712"/>
              </a:xfrm>
              <a:prstGeom prst="rect">
                <a:avLst/>
              </a:prstGeom>
              <a:blipFill>
                <a:blip r:embed="rId3"/>
                <a:stretch>
                  <a:fillRect l="-250" b="-108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Shape 22"/>
          <p:cNvSpPr/>
          <p:nvPr/>
        </p:nvSpPr>
        <p:spPr>
          <a:xfrm>
            <a:off x="320040" y="3786621"/>
            <a:ext cx="8503920" cy="841248"/>
          </a:xfrm>
          <a:prstGeom prst="rect">
            <a:avLst/>
          </a:prstGeom>
          <a:solidFill>
            <a:srgbClr val="F0F4FF"/>
          </a:solidFill>
          <a:ln w="190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3832341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khó: Trung bình đến Cao. Tuy nhiên impact tiềm năng rất lớn — nếu NoRGa work cho LLMs, paper sẽ có ảnh hưởng rộng hơn nhiều trong cộng đồng NLP/multimodal.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thuyết Self-Attention = MoE là ARCHITECTURE-AGNOSTIC — đây là lý do tốt để kỳ vọng NoRGa generalize!</a:t>
            </a:r>
            <a:endParaRPr lang="en-US" sz="12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hưởng của Paper — Lý thuyết &amp; Thực tiễn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— NeurIPS 2024  |  Lưu Hải Đăng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416052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4160520" cy="384048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7772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hưởng Lý thuyết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207008"/>
            <a:ext cx="374904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Lần đầu tiên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có nền tảng toán học giải thích TẠI SAO prefix tuning hoạt động trong CL
• Reframe prefix tuning như 'thêm MoE experts' → unified lens để phân tích tất cả prompt-based CL methods
• Trực tiếp truyền cảm hứng cho </a:t>
            </a: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SMoPE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organizes prompts như sparse MoE experts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777240"/>
            <a:ext cx="416052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777240"/>
            <a:ext cx="41605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7772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hưởng Thực tiễn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207008"/>
            <a:ext cx="374904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Chỉ 2 scalar params (α, τ) nhưng đạt SOTA trên tất cả benchmarks
• +4.34% FA trên CUB-200
• +2.92% CA trên ImageNet-R (Sup-21K)
• +1.95% FA trên CIFAR-100 (MoCo-1K)
</a:t>
            </a: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Drop-in replacement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có thể tích hợp vào bất kỳ prefix tuning framework nào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3246120"/>
            <a:ext cx="8503920" cy="1554480"/>
          </a:xfrm>
          <a:prstGeom prst="rect">
            <a:avLst/>
          </a:prstGeom>
          <a:solidFill>
            <a:srgbClr val="F0F4FF"/>
          </a:solidFill>
          <a:ln w="1905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improvement/cost parameters cực kỳ ấn tượng: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365760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chỉ bổ sung thêm 2 tham số vô hướng có thể học được (scalar learnable params) trên cơ sở kho gợi ý (prompt pool) sẵn có của HiDe-Prompt. 2 tham số này liên tục mang lại cải thiện trên cả các thiết lập tiền huấn luyện có giám sát VÀ tự giám sát — minh chứng mạnh mẽ cho phân tích lý thuyết rằng việc chọn lọc phi tuyến tính (non-linear gating) đã giải quyết được một hạn chế thống kê cơ bản.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— Ba Đóng góp Cốt lõi của Paper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NoRGa — NeurIPS 2024  |  Lưu Hải Đăng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749808"/>
            <a:ext cx="8503920" cy="1307592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033272"/>
            <a:ext cx="804672" cy="8046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03327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53312" y="94183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lý thuyết mới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53312" y="1307592"/>
            <a:ext cx="7315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Lần đầu tiên chứng minh: Self-Attention ≡ MoE với quadratic gating. Prefix tuning = thêm task-specific MoE experts mới. Cung cấp unified framework để hiểu và thiết kế prompt-based CL.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2194560"/>
            <a:ext cx="85039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2359152"/>
            <a:ext cx="804672" cy="8046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35915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53312" y="226771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điểm yếu &amp; Giải pháp NoRGa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53312" y="2633472"/>
            <a:ext cx="7315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gating của prefix experts → convergence O(1/logᵗn) — exponential data requirement. NoRGa thêm non-linear activation + residual → algebraic independence → O(√logn/n) — polynomial. Chỉ 2 thêm scalar params (α, τ).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20040" y="3520440"/>
            <a:ext cx="85039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" y="3685032"/>
            <a:ext cx="804672" cy="8046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36850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353312" y="359359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 Empirical Results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53312" y="3959352"/>
            <a:ext cx="7315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Vượt HiDe-Prompt trên tất cả benchmarks với cả supervised và self-supervised pre-trained models. Ablation xác nhận từng design choice. Code publicly available tại GitHub.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4593346"/>
            <a:ext cx="8503920" cy="256032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4593346"/>
            <a:ext cx="8229600" cy="252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simple yet principled modification — 2 params, exponential-to-polynomial convergence improvement, and SOTA results."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B25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-1645920"/>
            <a:ext cx="5029200" cy="5029200"/>
          </a:xfrm>
          <a:prstGeom prst="ellipse">
            <a:avLst/>
          </a:prstGeom>
          <a:solidFill>
            <a:srgbClr val="223070"/>
          </a:solidFill>
          <a:ln w="12700">
            <a:solidFill>
              <a:srgbClr val="223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162048"/>
          </a:solidFill>
          <a:ln w="12700">
            <a:solidFill>
              <a:srgbClr val="162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thầy và các bạn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lắng nghe!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41148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Hải Đăng  |  202516533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"Mixture of Experts Meets Prompt-Based Continual Learning"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A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2024  —  arXiv: 2405.14124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62048"/>
          </a:solidFill>
          <a:ln w="12700">
            <a:solidFill>
              <a:srgbClr val="162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3244</TotalTime>
  <Words>7442</Words>
  <Application>Microsoft Office PowerPoint</Application>
  <PresentationFormat>On-screen Show (16:9)</PresentationFormat>
  <Paragraphs>780</Paragraphs>
  <Slides>49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Arial</vt:lpstr>
      <vt:lpstr>Calibri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Mixture of Experts Meets Prompt-Based Continual Learning</dc:title>
  <dc:subject>PptxGenJS Presentation</dc:subject>
  <dc:creator>PptxGenJS</dc:creator>
  <cp:lastModifiedBy>Lưu Hải Đăng</cp:lastModifiedBy>
  <cp:revision>112</cp:revision>
  <dcterms:created xsi:type="dcterms:W3CDTF">2026-03-16T11:00:33Z</dcterms:created>
  <dcterms:modified xsi:type="dcterms:W3CDTF">2026-03-26T12:31:01Z</dcterms:modified>
</cp:coreProperties>
</file>